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92" r:id="rId2"/>
    <p:sldId id="357" r:id="rId3"/>
    <p:sldId id="413" r:id="rId4"/>
    <p:sldId id="445" r:id="rId5"/>
    <p:sldId id="414" r:id="rId6"/>
    <p:sldId id="446" r:id="rId7"/>
    <p:sldId id="447" r:id="rId8"/>
    <p:sldId id="448" r:id="rId9"/>
    <p:sldId id="449" r:id="rId10"/>
    <p:sldId id="450" r:id="rId11"/>
    <p:sldId id="451" r:id="rId12"/>
    <p:sldId id="452" r:id="rId13"/>
    <p:sldId id="416" r:id="rId14"/>
    <p:sldId id="417" r:id="rId15"/>
    <p:sldId id="418" r:id="rId16"/>
    <p:sldId id="419" r:id="rId17"/>
    <p:sldId id="453" r:id="rId18"/>
    <p:sldId id="454" r:id="rId19"/>
    <p:sldId id="455" r:id="rId20"/>
    <p:sldId id="456" r:id="rId21"/>
    <p:sldId id="457" r:id="rId22"/>
    <p:sldId id="458" r:id="rId23"/>
    <p:sldId id="459" r:id="rId24"/>
    <p:sldId id="460" r:id="rId25"/>
    <p:sldId id="422" r:id="rId26"/>
    <p:sldId id="423" r:id="rId27"/>
    <p:sldId id="424" r:id="rId28"/>
    <p:sldId id="462" r:id="rId29"/>
    <p:sldId id="461" r:id="rId30"/>
    <p:sldId id="463" r:id="rId31"/>
    <p:sldId id="464" r:id="rId32"/>
    <p:sldId id="465" r:id="rId33"/>
    <p:sldId id="466" r:id="rId34"/>
    <p:sldId id="467" r:id="rId35"/>
    <p:sldId id="468" r:id="rId36"/>
    <p:sldId id="431" r:id="rId37"/>
    <p:sldId id="433" r:id="rId38"/>
    <p:sldId id="469" r:id="rId39"/>
    <p:sldId id="470" r:id="rId40"/>
    <p:sldId id="471" r:id="rId41"/>
    <p:sldId id="472" r:id="rId42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C48F"/>
    <a:srgbClr val="3366FF"/>
    <a:srgbClr val="3399FF"/>
    <a:srgbClr val="FF3300"/>
    <a:srgbClr val="FF66CC"/>
    <a:srgbClr val="003300"/>
    <a:srgbClr val="00006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63" autoAdjust="0"/>
    <p:restoredTop sz="94660"/>
  </p:normalViewPr>
  <p:slideViewPr>
    <p:cSldViewPr>
      <p:cViewPr varScale="1">
        <p:scale>
          <a:sx n="99" d="100"/>
          <a:sy n="99" d="100"/>
        </p:scale>
        <p:origin x="1279" y="41"/>
      </p:cViewPr>
      <p:guideLst>
        <p:guide orient="horz" pos="193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클릭하여 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263F3B1-4CB1-443F-9E29-00D38CC92892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92215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1036F80-B0B3-47E4-99EE-4DB0B1E915FC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 smtClean="0"/>
              <a:t>마스터 텍스트 스타일 편집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0066051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 편집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8EE3E8C-E888-4232-B047-343CEBBE17C4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85968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 편집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 편집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0FF5EAC3-0857-4DEE-89E8-377E2B8A1210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59693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 편집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 편집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DFDB4761-1931-4162-BAAC-CE6132C62C46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 편집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741304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5AD13BF-EA40-4F50-81E8-685BFBA9134A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75958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FD2D74F-4871-4252-B8A6-F3CF472C0503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434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F68A870-1C94-4251-B3C0-56CA86746655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 편집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 편집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266654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 편집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C07EFCA0-A3EE-402D-9A9B-3595D0C1595A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836729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 편집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E5934-E43B-4621-B7F5-FBBF63BBB775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34247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 편집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pPr>
              <a:defRPr/>
            </a:pPr>
            <a:fld id="{16D4F1BB-F77C-496A-B925-8C4510F0775B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8788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57200" y="188913"/>
            <a:ext cx="8229600" cy="593725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3" name="Rectangle 2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3E75E-23BF-4AF9-8708-9112B47E466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51934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7B64B6A-E0FC-4483-84B7-C275003C90DB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37" t="7674" r="13051" b="25082"/>
          <a:stretch>
            <a:fillRect/>
          </a:stretch>
        </p:blipFill>
        <p:spPr bwMode="auto">
          <a:xfrm>
            <a:off x="238125" y="187325"/>
            <a:ext cx="514350" cy="90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611188" y="6538913"/>
            <a:ext cx="1988045" cy="27699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1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C</a:t>
            </a:r>
            <a:r>
              <a:rPr lang="ko-KR" altLang="en-US" sz="1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로 쉽게 </a:t>
            </a:r>
            <a:r>
              <a:rPr lang="ko-KR" altLang="en-US" sz="1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풀어쓴</a:t>
            </a:r>
            <a:r>
              <a:rPr lang="ko-KR" altLang="en-US" sz="1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자료구조</a:t>
            </a:r>
            <a:endParaRPr lang="ko-KR" altLang="en-US" sz="12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3590925" y="6535738"/>
            <a:ext cx="1529586" cy="27699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1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© </a:t>
            </a:r>
            <a:r>
              <a:rPr lang="ko-KR" altLang="en-US" sz="1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생능출판사</a:t>
            </a:r>
            <a:r>
              <a:rPr lang="ko-KR" altLang="en-US" sz="1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2019</a:t>
            </a:r>
          </a:p>
        </p:txBody>
      </p:sp>
      <p:pic>
        <p:nvPicPr>
          <p:cNvPr id="15" name="Picture 22" descr="MCj03433610000[1]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954713"/>
            <a:ext cx="933450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611188" y="6538913"/>
            <a:ext cx="1988045" cy="27699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1200" smtClean="0">
                <a:latin typeface="굴림" panose="020B0600000101010101" pitchFamily="50" charset="-127"/>
                <a:ea typeface="굴림" panose="020B0600000101010101" pitchFamily="50" charset="-127"/>
              </a:rPr>
              <a:t>C</a:t>
            </a:r>
            <a:r>
              <a:rPr lang="ko-KR" altLang="en-US" sz="1200" smtClean="0">
                <a:latin typeface="굴림" panose="020B0600000101010101" pitchFamily="50" charset="-127"/>
                <a:ea typeface="굴림" panose="020B0600000101010101" pitchFamily="50" charset="-127"/>
              </a:rPr>
              <a:t>로 쉽게 풀어쓴 자료구조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3590925" y="6535738"/>
            <a:ext cx="1581150" cy="2762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한양해서" pitchFamily="18" charset="-127"/>
                <a:ea typeface="한양해서" pitchFamily="18" charset="-127"/>
              </a:defRPr>
            </a:lvl9pPr>
          </a:lstStyle>
          <a:p>
            <a:pPr eaLnBrk="1" hangingPunct="1">
              <a:defRPr/>
            </a:pPr>
            <a:r>
              <a:rPr lang="en-US" altLang="ko-KR" sz="1200" smtClean="0">
                <a:latin typeface="굴림" panose="020B0600000101010101" pitchFamily="50" charset="-127"/>
                <a:ea typeface="굴림" panose="020B0600000101010101" pitchFamily="50" charset="-127"/>
              </a:rPr>
              <a:t>© </a:t>
            </a:r>
            <a:r>
              <a:rPr lang="ko-KR" altLang="en-US" sz="1200" smtClean="0">
                <a:latin typeface="굴림" panose="020B0600000101010101" pitchFamily="50" charset="-127"/>
                <a:ea typeface="굴림" panose="020B0600000101010101" pitchFamily="50" charset="-127"/>
              </a:rPr>
              <a:t>생능출판사 </a:t>
            </a:r>
            <a:r>
              <a:rPr lang="en-US" altLang="ko-KR" sz="1200" smtClean="0">
                <a:latin typeface="굴림" panose="020B0600000101010101" pitchFamily="50" charset="-127"/>
                <a:ea typeface="굴림" panose="020B0600000101010101" pitchFamily="50" charset="-127"/>
              </a:rPr>
              <a:t>2011</a:t>
            </a:r>
          </a:p>
        </p:txBody>
      </p:sp>
      <p:pic>
        <p:nvPicPr>
          <p:cNvPr id="18" name="Picture 22" descr="MCj03433610000[1]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954713"/>
            <a:ext cx="933450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34" descr="MCj03433610000[1]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954713"/>
            <a:ext cx="933450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34" descr="MCj03433610000[1]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954713"/>
            <a:ext cx="933450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9953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</p:sldLayoutIdLst>
  <p:timing>
    <p:tnLst>
      <p:par>
        <p:cTn id="1" dur="indefinite" restart="never" nodeType="tmRoot"/>
      </p:par>
    </p:tnLst>
  </p:timing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dirty="0" smtClean="0">
                <a:latin typeface="Trebuchet MS" panose="020B0603020202020204" pitchFamily="34" charset="0"/>
                <a:ea typeface="굴림" panose="020B0600000101010101" pitchFamily="50" charset="-127"/>
              </a:rPr>
              <a:t>6</a:t>
            </a:r>
            <a:r>
              <a:rPr lang="ko-KR" altLang="en-US" dirty="0" smtClean="0">
                <a:latin typeface="Trebuchet MS" panose="020B0603020202020204" pitchFamily="34" charset="0"/>
                <a:ea typeface="굴림" panose="020B0600000101010101" pitchFamily="50" charset="-127"/>
              </a:rPr>
              <a:t>장 </a:t>
            </a:r>
            <a:r>
              <a:rPr lang="ko-KR" altLang="en-US" dirty="0" smtClean="0">
                <a:latin typeface="Trebuchet MS" panose="020B0603020202020204" pitchFamily="34" charset="0"/>
                <a:ea typeface="굴림" panose="020B0600000101010101" pitchFamily="50" charset="-127"/>
              </a:rPr>
              <a:t>큐 </a:t>
            </a:r>
            <a:endParaRPr lang="ko-KR" altLang="en-US" dirty="0" smtClean="0">
              <a:latin typeface="Trebuchet MS" panose="020B0603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en-US" altLang="ko-K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큐</a:t>
            </a:r>
            <a:r>
              <a:rPr lang="en-US" altLang="ko-KR" smtClean="0"/>
              <a:t>(QUEUE)</a:t>
            </a:r>
          </a:p>
        </p:txBody>
      </p:sp>
      <p:sp>
        <p:nvSpPr>
          <p:cNvPr id="4099" name="Rectangle 9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kumimoji="0" lang="ko-KR" altLang="en-US" smtClean="0"/>
              <a:t>큐</a:t>
            </a:r>
            <a:r>
              <a:rPr kumimoji="0" lang="en-US" altLang="ko-KR" smtClean="0"/>
              <a:t>: </a:t>
            </a:r>
            <a:r>
              <a:rPr kumimoji="0" lang="ko-KR" altLang="en-US" smtClean="0"/>
              <a:t>먼저 들어온 데이터가 먼저 나가는 자료구조</a:t>
            </a:r>
          </a:p>
          <a:p>
            <a:pPr eaLnBrk="1" hangingPunct="1"/>
            <a:r>
              <a:rPr kumimoji="0" lang="ko-KR" altLang="en-US" b="1" smtClean="0"/>
              <a:t>선입선출</a:t>
            </a:r>
            <a:r>
              <a:rPr kumimoji="0" lang="en-US" altLang="ko-KR" b="1" smtClean="0"/>
              <a:t>(FIFO: First-In First-Out)</a:t>
            </a:r>
          </a:p>
          <a:p>
            <a:pPr eaLnBrk="1" hangingPunct="1"/>
            <a:r>
              <a:rPr kumimoji="0" lang="en-US" altLang="ko-KR" b="1" smtClean="0"/>
              <a:t>(</a:t>
            </a:r>
            <a:r>
              <a:rPr kumimoji="0" lang="ko-KR" altLang="en-US" b="1" smtClean="0"/>
              <a:t>예</a:t>
            </a:r>
            <a:r>
              <a:rPr kumimoji="0" lang="en-US" altLang="ko-KR" b="1" smtClean="0"/>
              <a:t>)</a:t>
            </a:r>
            <a:r>
              <a:rPr kumimoji="0" lang="ko-KR" altLang="en-US" smtClean="0"/>
              <a:t>매표소의 대기열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730" y="3248980"/>
            <a:ext cx="4120273" cy="25938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큐 </a:t>
            </a:r>
            <a:r>
              <a:rPr lang="en-US" altLang="ko-KR" smtClean="0"/>
              <a:t>ADT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609962" y="1133745"/>
            <a:ext cx="8145463" cy="5478423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ko-KR" altLang="en-US" sz="1400" dirty="0">
                <a:latin typeface="Trebuchet MS" panose="020B0603020202020204" pitchFamily="34" charset="0"/>
              </a:rPr>
              <a:t>객체</a:t>
            </a:r>
            <a:r>
              <a:rPr lang="en-US" altLang="ko-KR" sz="1400" dirty="0">
                <a:latin typeface="Trebuchet MS" panose="020B0603020202020204" pitchFamily="34" charset="0"/>
              </a:rPr>
              <a:t>: 0</a:t>
            </a:r>
            <a:r>
              <a:rPr lang="ko-KR" altLang="en-US" sz="1400" dirty="0">
                <a:latin typeface="Trebuchet MS" panose="020B0603020202020204" pitchFamily="34" charset="0"/>
              </a:rPr>
              <a:t>개 이상의 요소들로 구성된 선형 리스트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ko-KR" altLang="en-US" sz="1400" dirty="0">
                <a:latin typeface="Trebuchet MS" panose="020B0603020202020204" pitchFamily="34" charset="0"/>
              </a:rPr>
              <a:t>∙연산</a:t>
            </a:r>
            <a:r>
              <a:rPr lang="en-US" altLang="ko-KR" sz="1400" dirty="0">
                <a:latin typeface="Trebuchet MS" panose="020B0603020202020204" pitchFamily="34" charset="0"/>
              </a:rPr>
              <a:t>:  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 ▪ create(</a:t>
            </a:r>
            <a:r>
              <a:rPr lang="en-US" altLang="ko-KR" sz="1400" dirty="0" err="1">
                <a:latin typeface="Trebuchet MS" panose="020B0603020202020204" pitchFamily="34" charset="0"/>
              </a:rPr>
              <a:t>max_size</a:t>
            </a:r>
            <a:r>
              <a:rPr lang="en-US" altLang="ko-KR" sz="1400" dirty="0">
                <a:latin typeface="Trebuchet MS" panose="020B0603020202020204" pitchFamily="34" charset="0"/>
              </a:rPr>
              <a:t>) ::=	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</a:t>
            </a:r>
            <a:r>
              <a:rPr lang="ko-KR" altLang="en-US" sz="1400" dirty="0">
                <a:latin typeface="Trebuchet MS" panose="020B0603020202020204" pitchFamily="34" charset="0"/>
              </a:rPr>
              <a:t>최대 크기가 </a:t>
            </a:r>
            <a:r>
              <a:rPr lang="en-US" altLang="ko-KR" sz="1400" dirty="0" err="1">
                <a:latin typeface="Trebuchet MS" panose="020B0603020202020204" pitchFamily="34" charset="0"/>
              </a:rPr>
              <a:t>max_size</a:t>
            </a:r>
            <a:r>
              <a:rPr lang="ko-KR" altLang="en-US" sz="1400" dirty="0">
                <a:latin typeface="Trebuchet MS" panose="020B0603020202020204" pitchFamily="34" charset="0"/>
              </a:rPr>
              <a:t>인 </a:t>
            </a:r>
            <a:r>
              <a:rPr lang="ko-KR" altLang="en-US" sz="1400" dirty="0" err="1">
                <a:latin typeface="Trebuchet MS" panose="020B0603020202020204" pitchFamily="34" charset="0"/>
              </a:rPr>
              <a:t>공백큐를</a:t>
            </a:r>
            <a:r>
              <a:rPr lang="ko-KR" altLang="en-US" sz="1400" dirty="0">
                <a:latin typeface="Trebuchet MS" panose="020B0603020202020204" pitchFamily="34" charset="0"/>
              </a:rPr>
              <a:t> 생성한다</a:t>
            </a:r>
            <a:r>
              <a:rPr lang="en-US" altLang="ko-KR" sz="1400" dirty="0">
                <a:latin typeface="Trebuchet MS" panose="020B0603020202020204" pitchFamily="34" charset="0"/>
              </a:rPr>
              <a:t>. 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 ▪ </a:t>
            </a:r>
            <a:r>
              <a:rPr lang="en-US" altLang="ko-KR" sz="1400" dirty="0" err="1">
                <a:latin typeface="Trebuchet MS" panose="020B0603020202020204" pitchFamily="34" charset="0"/>
              </a:rPr>
              <a:t>init</a:t>
            </a:r>
            <a:r>
              <a:rPr lang="en-US" altLang="ko-KR" sz="1400" dirty="0">
                <a:latin typeface="Trebuchet MS" panose="020B0603020202020204" pitchFamily="34" charset="0"/>
              </a:rPr>
              <a:t>(q) ::=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</a:t>
            </a:r>
            <a:r>
              <a:rPr lang="ko-KR" altLang="en-US" sz="1400" dirty="0">
                <a:latin typeface="Trebuchet MS" panose="020B0603020202020204" pitchFamily="34" charset="0"/>
              </a:rPr>
              <a:t>큐를 초기화한다</a:t>
            </a:r>
            <a:r>
              <a:rPr lang="en-US" altLang="ko-KR" sz="1400" dirty="0">
                <a:latin typeface="Trebuchet MS" panose="020B0603020202020204" pitchFamily="34" charset="0"/>
              </a:rPr>
              <a:t>.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 ▪ </a:t>
            </a:r>
            <a:r>
              <a:rPr lang="en-US" altLang="ko-KR" sz="1400" dirty="0" err="1">
                <a:latin typeface="Trebuchet MS" panose="020B0603020202020204" pitchFamily="34" charset="0"/>
              </a:rPr>
              <a:t>is_empty</a:t>
            </a:r>
            <a:r>
              <a:rPr lang="en-US" altLang="ko-KR" sz="1400" dirty="0">
                <a:latin typeface="Trebuchet MS" panose="020B0603020202020204" pitchFamily="34" charset="0"/>
              </a:rPr>
              <a:t>(q) ::=  	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if(size == 0) return TRUE;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else return FALSE;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 ▪ </a:t>
            </a:r>
            <a:r>
              <a:rPr lang="en-US" altLang="ko-KR" sz="1400" dirty="0" err="1">
                <a:latin typeface="Trebuchet MS" panose="020B0603020202020204" pitchFamily="34" charset="0"/>
              </a:rPr>
              <a:t>is_full</a:t>
            </a:r>
            <a:r>
              <a:rPr lang="en-US" altLang="ko-KR" sz="1400" dirty="0">
                <a:latin typeface="Trebuchet MS" panose="020B0603020202020204" pitchFamily="34" charset="0"/>
              </a:rPr>
              <a:t>(q) ::=	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if(size == </a:t>
            </a:r>
            <a:r>
              <a:rPr lang="en-US" altLang="ko-KR" sz="1400" dirty="0" err="1">
                <a:latin typeface="Trebuchet MS" panose="020B0603020202020204" pitchFamily="34" charset="0"/>
              </a:rPr>
              <a:t>max_size</a:t>
            </a:r>
            <a:r>
              <a:rPr lang="en-US" altLang="ko-KR" sz="1400" dirty="0">
                <a:latin typeface="Trebuchet MS" panose="020B0603020202020204" pitchFamily="34" charset="0"/>
              </a:rPr>
              <a:t>) return TRUE;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else return FALSE;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 ▪ </a:t>
            </a:r>
            <a:r>
              <a:rPr lang="en-US" altLang="ko-KR" sz="1400" dirty="0" err="1">
                <a:latin typeface="Trebuchet MS" panose="020B0603020202020204" pitchFamily="34" charset="0"/>
              </a:rPr>
              <a:t>enqueue</a:t>
            </a:r>
            <a:r>
              <a:rPr lang="en-US" altLang="ko-KR" sz="1400" dirty="0">
                <a:latin typeface="Trebuchet MS" panose="020B0603020202020204" pitchFamily="34" charset="0"/>
              </a:rPr>
              <a:t>(q, e) ::= 	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if( </a:t>
            </a:r>
            <a:r>
              <a:rPr lang="en-US" altLang="ko-KR" sz="1400" dirty="0" err="1">
                <a:latin typeface="Trebuchet MS" panose="020B0603020202020204" pitchFamily="34" charset="0"/>
              </a:rPr>
              <a:t>is_full</a:t>
            </a:r>
            <a:r>
              <a:rPr lang="en-US" altLang="ko-KR" sz="1400" dirty="0">
                <a:latin typeface="Trebuchet MS" panose="020B0603020202020204" pitchFamily="34" charset="0"/>
              </a:rPr>
              <a:t>(q) ) 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queue_full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ko-KR" altLang="en-US" sz="1400" dirty="0">
                <a:latin typeface="Trebuchet MS" panose="020B0603020202020204" pitchFamily="34" charset="0"/>
              </a:rPr>
              <a:t>오류</a:t>
            </a:r>
            <a:r>
              <a:rPr lang="en-US" altLang="ko-KR" sz="1400" dirty="0">
                <a:latin typeface="Trebuchet MS" panose="020B0603020202020204" pitchFamily="34" charset="0"/>
              </a:rPr>
              <a:t>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else q</a:t>
            </a:r>
            <a:r>
              <a:rPr lang="ko-KR" altLang="en-US" sz="1400" dirty="0">
                <a:latin typeface="Trebuchet MS" panose="020B0603020202020204" pitchFamily="34" charset="0"/>
              </a:rPr>
              <a:t>의 끝에 </a:t>
            </a:r>
            <a:r>
              <a:rPr lang="en-US" altLang="ko-KR" sz="1400" dirty="0">
                <a:latin typeface="Trebuchet MS" panose="020B0603020202020204" pitchFamily="34" charset="0"/>
              </a:rPr>
              <a:t>e</a:t>
            </a:r>
            <a:r>
              <a:rPr lang="ko-KR" altLang="en-US" sz="1400" dirty="0">
                <a:latin typeface="Trebuchet MS" panose="020B0603020202020204" pitchFamily="34" charset="0"/>
              </a:rPr>
              <a:t>를 추가한다</a:t>
            </a:r>
            <a:r>
              <a:rPr lang="en-US" altLang="ko-KR" sz="1400" dirty="0">
                <a:latin typeface="Trebuchet MS" panose="020B0603020202020204" pitchFamily="34" charset="0"/>
              </a:rPr>
              <a:t>. 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 ▪ 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dequeue</a:t>
            </a:r>
            <a:r>
              <a:rPr lang="en-US" altLang="ko-KR" sz="1400" dirty="0">
                <a:latin typeface="Trebuchet MS" panose="020B0603020202020204" pitchFamily="34" charset="0"/>
              </a:rPr>
              <a:t>(q) ::=	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if( </a:t>
            </a:r>
            <a:r>
              <a:rPr lang="en-US" altLang="ko-KR" sz="1400" dirty="0" err="1">
                <a:latin typeface="Trebuchet MS" panose="020B0603020202020204" pitchFamily="34" charset="0"/>
              </a:rPr>
              <a:t>is_empty</a:t>
            </a:r>
            <a:r>
              <a:rPr lang="en-US" altLang="ko-KR" sz="1400" dirty="0">
                <a:latin typeface="Trebuchet MS" panose="020B0603020202020204" pitchFamily="34" charset="0"/>
              </a:rPr>
              <a:t>(q) ) 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queue_empty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ko-KR" altLang="en-US" sz="1400" dirty="0">
                <a:latin typeface="Trebuchet MS" panose="020B0603020202020204" pitchFamily="34" charset="0"/>
              </a:rPr>
              <a:t>오류</a:t>
            </a:r>
            <a:r>
              <a:rPr lang="en-US" altLang="ko-KR" sz="1400" dirty="0">
                <a:latin typeface="Trebuchet MS" panose="020B0603020202020204" pitchFamily="34" charset="0"/>
              </a:rPr>
              <a:t>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else q</a:t>
            </a:r>
            <a:r>
              <a:rPr lang="ko-KR" altLang="en-US" sz="1400" dirty="0">
                <a:latin typeface="Trebuchet MS" panose="020B0603020202020204" pitchFamily="34" charset="0"/>
              </a:rPr>
              <a:t>의 맨 앞에 있는 </a:t>
            </a:r>
            <a:r>
              <a:rPr lang="en-US" altLang="ko-KR" sz="1400" dirty="0">
                <a:latin typeface="Trebuchet MS" panose="020B0603020202020204" pitchFamily="34" charset="0"/>
              </a:rPr>
              <a:t>e</a:t>
            </a:r>
            <a:r>
              <a:rPr lang="ko-KR" altLang="en-US" sz="1400" dirty="0">
                <a:latin typeface="Trebuchet MS" panose="020B0603020202020204" pitchFamily="34" charset="0"/>
              </a:rPr>
              <a:t>를 제거하여 반환한다</a:t>
            </a:r>
            <a:r>
              <a:rPr lang="en-US" altLang="ko-KR" sz="1400" dirty="0">
                <a:latin typeface="Trebuchet MS" panose="020B0603020202020204" pitchFamily="34" charset="0"/>
              </a:rPr>
              <a:t>. 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 ▪ peek(q) ::= 	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if( </a:t>
            </a:r>
            <a:r>
              <a:rPr lang="en-US" altLang="ko-KR" sz="1400" dirty="0" err="1">
                <a:latin typeface="Trebuchet MS" panose="020B0603020202020204" pitchFamily="34" charset="0"/>
              </a:rPr>
              <a:t>is_empty</a:t>
            </a:r>
            <a:r>
              <a:rPr lang="en-US" altLang="ko-KR" sz="1400" dirty="0">
                <a:latin typeface="Trebuchet MS" panose="020B0603020202020204" pitchFamily="34" charset="0"/>
              </a:rPr>
              <a:t>(q) ) 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queue_empty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ko-KR" altLang="en-US" sz="1400" dirty="0">
                <a:latin typeface="Trebuchet MS" panose="020B0603020202020204" pitchFamily="34" charset="0"/>
              </a:rPr>
              <a:t>오류</a:t>
            </a:r>
            <a:r>
              <a:rPr lang="en-US" altLang="ko-KR" sz="1400" dirty="0">
                <a:latin typeface="Trebuchet MS" panose="020B0603020202020204" pitchFamily="34" charset="0"/>
              </a:rPr>
              <a:t>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else q</a:t>
            </a:r>
            <a:r>
              <a:rPr lang="ko-KR" altLang="en-US" sz="1400" dirty="0">
                <a:latin typeface="Trebuchet MS" panose="020B0603020202020204" pitchFamily="34" charset="0"/>
              </a:rPr>
              <a:t>의 맨 앞에 있는 </a:t>
            </a:r>
            <a:r>
              <a:rPr lang="en-US" altLang="ko-KR" sz="1400" dirty="0">
                <a:latin typeface="Trebuchet MS" panose="020B0603020202020204" pitchFamily="34" charset="0"/>
              </a:rPr>
              <a:t>e</a:t>
            </a:r>
            <a:r>
              <a:rPr lang="ko-KR" altLang="en-US" sz="1400" dirty="0">
                <a:latin typeface="Trebuchet MS" panose="020B0603020202020204" pitchFamily="34" charset="0"/>
              </a:rPr>
              <a:t>를 읽어서 반환한다</a:t>
            </a:r>
            <a:r>
              <a:rPr lang="en-US" altLang="ko-KR" sz="1400" dirty="0">
                <a:latin typeface="Trebuchet MS" panose="020B0603020202020204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큐의 삽입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삭제 연산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601670" y="1133745"/>
            <a:ext cx="5260338" cy="544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08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큐의 응용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직접적인 응용</a:t>
            </a:r>
          </a:p>
          <a:p>
            <a:pPr lvl="1" eaLnBrk="1" hangingPunct="1"/>
            <a:r>
              <a:rPr lang="ko-KR" altLang="en-US" smtClean="0"/>
              <a:t>시뮬레이션의 대기열</a:t>
            </a:r>
            <a:r>
              <a:rPr lang="en-US" altLang="ko-KR" smtClean="0"/>
              <a:t>(</a:t>
            </a:r>
            <a:r>
              <a:rPr lang="ko-KR" altLang="en-US" smtClean="0"/>
              <a:t>공항에서의 비행기들</a:t>
            </a:r>
            <a:r>
              <a:rPr lang="en-US" altLang="ko-KR" smtClean="0"/>
              <a:t>, </a:t>
            </a:r>
            <a:r>
              <a:rPr lang="ko-KR" altLang="en-US" smtClean="0"/>
              <a:t>은행에서의 대기열</a:t>
            </a:r>
            <a:r>
              <a:rPr lang="en-US" altLang="ko-KR" smtClean="0"/>
              <a:t>)</a:t>
            </a:r>
          </a:p>
          <a:p>
            <a:pPr lvl="1" eaLnBrk="1" hangingPunct="1"/>
            <a:r>
              <a:rPr lang="ko-KR" altLang="en-US" smtClean="0"/>
              <a:t>통신에서의 데이터 패킷들의 모델링에 이용</a:t>
            </a:r>
          </a:p>
          <a:p>
            <a:pPr lvl="1" eaLnBrk="1" hangingPunct="1"/>
            <a:r>
              <a:rPr lang="ko-KR" altLang="en-US" smtClean="0"/>
              <a:t>프린터와 컴퓨터 사이의 버퍼링</a:t>
            </a:r>
          </a:p>
          <a:p>
            <a:pPr eaLnBrk="1" hangingPunct="1"/>
            <a:r>
              <a:rPr lang="ko-KR" altLang="en-US" smtClean="0"/>
              <a:t>간접적인 응용</a:t>
            </a:r>
          </a:p>
          <a:p>
            <a:pPr lvl="1" eaLnBrk="1" hangingPunct="1"/>
            <a:r>
              <a:rPr lang="ko-KR" altLang="en-US" smtClean="0"/>
              <a:t>스택과 마찬가지로 프로그래머의 도구</a:t>
            </a:r>
          </a:p>
          <a:p>
            <a:pPr lvl="1" eaLnBrk="1" hangingPunct="1"/>
            <a:r>
              <a:rPr lang="ko-KR" altLang="en-US" smtClean="0"/>
              <a:t>많은 알고리즘에서 사용됨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4644135"/>
            <a:ext cx="6292322" cy="1575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선형큐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>
                <a:latin typeface="Lucida Console" pitchFamily="49" charset="0"/>
              </a:rPr>
              <a:t>배열을 선형으로 사용하여 큐를 구현</a:t>
            </a:r>
          </a:p>
          <a:p>
            <a:pPr lvl="1"/>
            <a:r>
              <a:rPr lang="ko-KR" altLang="en-US" dirty="0">
                <a:latin typeface="Lucida Console" pitchFamily="49" charset="0"/>
              </a:rPr>
              <a:t>삽입을 계속하기 위해서는 요소들을 이동시켜야 함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90" y="2843935"/>
            <a:ext cx="7261653" cy="276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343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err="1" smtClean="0"/>
              <a:t>선형큐</a:t>
            </a:r>
            <a:endParaRPr lang="ko-KR" altLang="en-US" dirty="0" smtClean="0"/>
          </a:p>
        </p:txBody>
      </p:sp>
      <p:sp>
        <p:nvSpPr>
          <p:cNvPr id="11268" name="Rectangle 9"/>
          <p:cNvSpPr>
            <a:spLocks noChangeArrowheads="1"/>
          </p:cNvSpPr>
          <p:nvPr/>
        </p:nvSpPr>
        <p:spPr bwMode="auto">
          <a:xfrm>
            <a:off x="701570" y="770385"/>
            <a:ext cx="7740650" cy="5995487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#include &lt;</a:t>
            </a:r>
            <a:r>
              <a:rPr lang="en-US" altLang="ko-KR" sz="1400" dirty="0" err="1">
                <a:latin typeface="Trebuchet MS" panose="020B0603020202020204" pitchFamily="34" charset="0"/>
              </a:rPr>
              <a:t>stdio.h</a:t>
            </a:r>
            <a:r>
              <a:rPr lang="en-US" altLang="ko-KR" sz="1400" dirty="0">
                <a:latin typeface="Trebuchet MS" panose="020B0603020202020204" pitchFamily="34" charset="0"/>
              </a:rPr>
              <a:t>&gt;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#include &lt;</a:t>
            </a:r>
            <a:r>
              <a:rPr lang="en-US" altLang="ko-KR" sz="1400" dirty="0" err="1">
                <a:latin typeface="Trebuchet MS" panose="020B0603020202020204" pitchFamily="34" charset="0"/>
              </a:rPr>
              <a:t>stdlib.h</a:t>
            </a:r>
            <a:r>
              <a:rPr lang="en-US" altLang="ko-KR" sz="1400" dirty="0">
                <a:latin typeface="Trebuchet MS" panose="020B0603020202020204" pitchFamily="34" charset="0"/>
              </a:rPr>
              <a:t>&gt;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#define MAX_QUEUE_SIZE 5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>
                <a:latin typeface="Trebuchet MS" panose="020B0603020202020204" pitchFamily="34" charset="0"/>
              </a:rPr>
              <a:t>typedef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element;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>
                <a:latin typeface="Trebuchet MS" panose="020B0603020202020204" pitchFamily="34" charset="0"/>
              </a:rPr>
              <a:t>typedef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struct</a:t>
            </a:r>
            <a:r>
              <a:rPr lang="en-US" altLang="ko-KR" sz="1400" dirty="0">
                <a:latin typeface="Trebuchet MS" panose="020B0603020202020204" pitchFamily="34" charset="0"/>
              </a:rPr>
              <a:t> { 				// </a:t>
            </a:r>
            <a:r>
              <a:rPr lang="ko-KR" altLang="en-US" sz="1400" dirty="0">
                <a:latin typeface="Trebuchet MS" panose="020B0603020202020204" pitchFamily="34" charset="0"/>
              </a:rPr>
              <a:t>큐 타입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ko-KR" altLang="en-US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 front;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rear;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element  data[MAX_QUEUE_SIZE];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 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</a:t>
            </a:r>
            <a:r>
              <a:rPr lang="ko-KR" altLang="en-US" sz="1400" dirty="0">
                <a:latin typeface="Trebuchet MS" panose="020B0603020202020204" pitchFamily="34" charset="0"/>
              </a:rPr>
              <a:t>오류 함수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void error(char *message)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fprintf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stderr</a:t>
            </a:r>
            <a:r>
              <a:rPr lang="en-US" altLang="ko-KR" sz="1400" dirty="0">
                <a:latin typeface="Trebuchet MS" panose="020B0603020202020204" pitchFamily="34" charset="0"/>
              </a:rPr>
              <a:t>, "%s\n", message);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exit(1);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void </a:t>
            </a:r>
            <a:r>
              <a:rPr lang="en-US" altLang="ko-KR" sz="1400" dirty="0" err="1">
                <a:latin typeface="Trebuchet MS" panose="020B0603020202020204" pitchFamily="34" charset="0"/>
              </a:rPr>
              <a:t>init_queue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q-&gt;rear = -1;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q-&gt;front = -1;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7452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err="1" smtClean="0"/>
              <a:t>선형큐</a:t>
            </a:r>
            <a:endParaRPr lang="ko-KR" altLang="en-US" dirty="0" smtClean="0"/>
          </a:p>
        </p:txBody>
      </p:sp>
      <p:sp>
        <p:nvSpPr>
          <p:cNvPr id="11268" name="Rectangle 9"/>
          <p:cNvSpPr>
            <a:spLocks noChangeArrowheads="1"/>
          </p:cNvSpPr>
          <p:nvPr/>
        </p:nvSpPr>
        <p:spPr bwMode="auto">
          <a:xfrm>
            <a:off x="701570" y="86916"/>
            <a:ext cx="7740650" cy="6254020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void 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queue_print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for (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 = 0; 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&lt;MAX_QUEUE_SIZE; 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++) 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if (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 &lt;= q-&gt;front || 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&gt; q-&gt;rear)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   | 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else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("%d | ", q-&gt;data[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]);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("\n");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 smtClean="0">
                <a:latin typeface="Trebuchet MS" panose="020B0603020202020204" pitchFamily="34" charset="0"/>
              </a:rPr>
              <a:t>int</a:t>
            </a:r>
            <a:r>
              <a:rPr lang="en-US" altLang="ko-KR" sz="1400" dirty="0" smtClean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is_full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if (q-&gt;rear == MAX_QUEUE_SIZE - 1)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return 1;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else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return 0;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 smtClean="0">
                <a:latin typeface="Trebuchet MS" panose="020B0603020202020204" pitchFamily="34" charset="0"/>
              </a:rPr>
              <a:t>int</a:t>
            </a:r>
            <a:r>
              <a:rPr lang="en-US" altLang="ko-KR" sz="1400" dirty="0" smtClean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is_empty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if (q-&gt;front == q-&gt;rear)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return 1;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else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return 0;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67445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err="1" smtClean="0"/>
              <a:t>선형큐</a:t>
            </a:r>
            <a:endParaRPr lang="ko-KR" altLang="en-US" dirty="0" smtClean="0"/>
          </a:p>
        </p:txBody>
      </p:sp>
      <p:sp>
        <p:nvSpPr>
          <p:cNvPr id="11268" name="Rectangle 9"/>
          <p:cNvSpPr>
            <a:spLocks noChangeArrowheads="1"/>
          </p:cNvSpPr>
          <p:nvPr/>
        </p:nvSpPr>
        <p:spPr bwMode="auto">
          <a:xfrm>
            <a:off x="566555" y="1315200"/>
            <a:ext cx="7740650" cy="4702826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void </a:t>
            </a:r>
            <a:r>
              <a:rPr lang="en-US" altLang="ko-KR" sz="1400" dirty="0" err="1">
                <a:latin typeface="Trebuchet MS" panose="020B0603020202020204" pitchFamily="34" charset="0"/>
              </a:rPr>
              <a:t>enqueue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 *q, 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item)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if (</a:t>
            </a:r>
            <a:r>
              <a:rPr lang="en-US" altLang="ko-KR" sz="1400" dirty="0" err="1">
                <a:latin typeface="Trebuchet MS" panose="020B0603020202020204" pitchFamily="34" charset="0"/>
              </a:rPr>
              <a:t>is_full</a:t>
            </a:r>
            <a:r>
              <a:rPr lang="en-US" altLang="ko-KR" sz="1400" dirty="0">
                <a:latin typeface="Trebuchet MS" panose="020B0603020202020204" pitchFamily="34" charset="0"/>
              </a:rPr>
              <a:t>(q)) 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error("</a:t>
            </a:r>
            <a:r>
              <a:rPr lang="ko-KR" altLang="en-US" sz="1400" dirty="0">
                <a:latin typeface="Trebuchet MS" panose="020B0603020202020204" pitchFamily="34" charset="0"/>
              </a:rPr>
              <a:t>큐가 포화상태입니다</a:t>
            </a:r>
            <a:r>
              <a:rPr lang="en-US" altLang="ko-KR" sz="1400" dirty="0">
                <a:latin typeface="Trebuchet MS" panose="020B0603020202020204" pitchFamily="34" charset="0"/>
              </a:rPr>
              <a:t>.");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return;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q-&gt;data[++(q-&gt;rear)] = item;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dequeue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if (</a:t>
            </a:r>
            <a:r>
              <a:rPr lang="en-US" altLang="ko-KR" sz="1400" dirty="0" err="1">
                <a:latin typeface="Trebuchet MS" panose="020B0603020202020204" pitchFamily="34" charset="0"/>
              </a:rPr>
              <a:t>is_empty</a:t>
            </a:r>
            <a:r>
              <a:rPr lang="en-US" altLang="ko-KR" sz="1400" dirty="0">
                <a:latin typeface="Trebuchet MS" panose="020B0603020202020204" pitchFamily="34" charset="0"/>
              </a:rPr>
              <a:t>(q)) 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error("</a:t>
            </a:r>
            <a:r>
              <a:rPr lang="ko-KR" altLang="en-US" sz="1400" dirty="0">
                <a:latin typeface="Trebuchet MS" panose="020B0603020202020204" pitchFamily="34" charset="0"/>
              </a:rPr>
              <a:t>큐가 </a:t>
            </a:r>
            <a:r>
              <a:rPr lang="ko-KR" altLang="en-US" sz="1400" dirty="0" err="1">
                <a:latin typeface="Trebuchet MS" panose="020B0603020202020204" pitchFamily="34" charset="0"/>
              </a:rPr>
              <a:t>공백상태입니다</a:t>
            </a:r>
            <a:r>
              <a:rPr lang="en-US" altLang="ko-KR" sz="1400" dirty="0">
                <a:latin typeface="Trebuchet MS" panose="020B0603020202020204" pitchFamily="34" charset="0"/>
              </a:rPr>
              <a:t>.");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return -1;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item = q-&gt;data[++(q-&gt;front)];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return item;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0930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13982" y="5351469"/>
            <a:ext cx="7740650" cy="1384995"/>
          </a:xfrm>
          <a:prstGeom prst="rect">
            <a:avLst/>
          </a:prstGeom>
          <a:solidFill>
            <a:srgbClr val="3366FF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10 |    |    |    |    |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10 | 20 |    |    |    |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10 | 20 | 30 |    |    |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   | 20 | 30 |    |    |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   |    | 30 |    |    |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   |    |    |    |    |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612648" y="1043403"/>
            <a:ext cx="7740650" cy="4185761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main(void)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item = 0;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 q;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init_queue</a:t>
            </a:r>
            <a:r>
              <a:rPr lang="en-US" altLang="ko-KR" sz="1400" dirty="0">
                <a:latin typeface="Trebuchet MS" panose="020B0603020202020204" pitchFamily="34" charset="0"/>
              </a:rPr>
              <a:t>(&amp;q);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enqueue</a:t>
            </a:r>
            <a:r>
              <a:rPr lang="en-US" altLang="ko-KR" sz="1400" dirty="0">
                <a:latin typeface="Trebuchet MS" panose="020B0603020202020204" pitchFamily="34" charset="0"/>
              </a:rPr>
              <a:t>(&amp;q, 10); 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queue_print</a:t>
            </a:r>
            <a:r>
              <a:rPr lang="en-US" altLang="ko-KR" sz="1400" dirty="0">
                <a:latin typeface="Trebuchet MS" panose="020B0603020202020204" pitchFamily="34" charset="0"/>
              </a:rPr>
              <a:t>(&amp;q);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enqueue</a:t>
            </a:r>
            <a:r>
              <a:rPr lang="en-US" altLang="ko-KR" sz="1400" dirty="0">
                <a:latin typeface="Trebuchet MS" panose="020B0603020202020204" pitchFamily="34" charset="0"/>
              </a:rPr>
              <a:t>(&amp;q, 20); 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queue_print</a:t>
            </a:r>
            <a:r>
              <a:rPr lang="en-US" altLang="ko-KR" sz="1400" dirty="0">
                <a:latin typeface="Trebuchet MS" panose="020B0603020202020204" pitchFamily="34" charset="0"/>
              </a:rPr>
              <a:t>(&amp;q);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enqueue</a:t>
            </a:r>
            <a:r>
              <a:rPr lang="en-US" altLang="ko-KR" sz="1400" dirty="0">
                <a:latin typeface="Trebuchet MS" panose="020B0603020202020204" pitchFamily="34" charset="0"/>
              </a:rPr>
              <a:t>(&amp;q, 30); 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queue_print</a:t>
            </a:r>
            <a:r>
              <a:rPr lang="en-US" altLang="ko-KR" sz="1400" dirty="0">
                <a:latin typeface="Trebuchet MS" panose="020B0603020202020204" pitchFamily="34" charset="0"/>
              </a:rPr>
              <a:t>(&amp;q);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item = 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dequeue</a:t>
            </a:r>
            <a:r>
              <a:rPr lang="en-US" altLang="ko-KR" sz="1400" dirty="0">
                <a:latin typeface="Trebuchet MS" panose="020B0603020202020204" pitchFamily="34" charset="0"/>
              </a:rPr>
              <a:t>(&amp;q); 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queue_print</a:t>
            </a:r>
            <a:r>
              <a:rPr lang="en-US" altLang="ko-KR" sz="1400" dirty="0">
                <a:latin typeface="Trebuchet MS" panose="020B0603020202020204" pitchFamily="34" charset="0"/>
              </a:rPr>
              <a:t>(&amp;q);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item = 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dequeue</a:t>
            </a:r>
            <a:r>
              <a:rPr lang="en-US" altLang="ko-KR" sz="1400" dirty="0">
                <a:latin typeface="Trebuchet MS" panose="020B0603020202020204" pitchFamily="34" charset="0"/>
              </a:rPr>
              <a:t>(&amp;q); 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queue_print</a:t>
            </a:r>
            <a:r>
              <a:rPr lang="en-US" altLang="ko-KR" sz="1400" dirty="0">
                <a:latin typeface="Trebuchet MS" panose="020B0603020202020204" pitchFamily="34" charset="0"/>
              </a:rPr>
              <a:t>(&amp;q);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item = 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dequeue</a:t>
            </a:r>
            <a:r>
              <a:rPr lang="en-US" altLang="ko-KR" sz="1400" dirty="0">
                <a:latin typeface="Trebuchet MS" panose="020B0603020202020204" pitchFamily="34" charset="0"/>
              </a:rPr>
              <a:t>(&amp;q); 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queue_print</a:t>
            </a:r>
            <a:r>
              <a:rPr lang="en-US" altLang="ko-KR" sz="1400" dirty="0">
                <a:latin typeface="Trebuchet MS" panose="020B0603020202020204" pitchFamily="34" charset="0"/>
              </a:rPr>
              <a:t>(&amp;q);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return 0;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88194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 </a:t>
            </a:r>
            <a:r>
              <a:rPr lang="ko-KR" altLang="en-US" dirty="0"/>
              <a:t>선형 큐의 응용</a:t>
            </a:r>
            <a:r>
              <a:rPr lang="en-US" altLang="ko-KR" dirty="0"/>
              <a:t>: </a:t>
            </a:r>
            <a:r>
              <a:rPr lang="ko-KR" altLang="en-US" dirty="0"/>
              <a:t>작업 스케줄링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006923" y="1538790"/>
            <a:ext cx="6429375" cy="16383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605" y="3674922"/>
            <a:ext cx="7673381" cy="244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614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원형큐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827337" y="2324100"/>
            <a:ext cx="372427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20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 err="1" smtClean="0"/>
              <a:t>원형큐의</a:t>
            </a:r>
            <a:r>
              <a:rPr lang="ko-KR" altLang="en-US" dirty="0" smtClean="0"/>
              <a:t> 구조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ko-KR" altLang="en-US" dirty="0" smtClean="0">
                <a:latin typeface="Trebuchet MS" panose="020B0603020202020204" pitchFamily="34" charset="0"/>
              </a:rPr>
              <a:t>큐의 전단과 후단을 관리하기 위한 </a:t>
            </a:r>
            <a:r>
              <a:rPr lang="en-US" altLang="ko-KR" dirty="0" smtClean="0">
                <a:latin typeface="Trebuchet MS" panose="020B0603020202020204" pitchFamily="34" charset="0"/>
              </a:rPr>
              <a:t>2</a:t>
            </a:r>
            <a:r>
              <a:rPr lang="ko-KR" altLang="en-US" dirty="0" smtClean="0">
                <a:latin typeface="Trebuchet MS" panose="020B0603020202020204" pitchFamily="34" charset="0"/>
              </a:rPr>
              <a:t>개의 변수 필요</a:t>
            </a:r>
          </a:p>
          <a:p>
            <a:pPr lvl="1" eaLnBrk="1" hangingPunct="1"/>
            <a:r>
              <a:rPr lang="en-US" altLang="ko-KR" dirty="0" smtClean="0">
                <a:latin typeface="Trebuchet MS" panose="020B0603020202020204" pitchFamily="34" charset="0"/>
              </a:rPr>
              <a:t>front: </a:t>
            </a:r>
            <a:r>
              <a:rPr lang="ko-KR" altLang="en-US" dirty="0" smtClean="0">
                <a:latin typeface="Trebuchet MS" panose="020B0603020202020204" pitchFamily="34" charset="0"/>
              </a:rPr>
              <a:t>첫번째 요소 하나 앞의 인덱스</a:t>
            </a:r>
          </a:p>
          <a:p>
            <a:pPr lvl="1" eaLnBrk="1" hangingPunct="1"/>
            <a:r>
              <a:rPr lang="en-US" altLang="ko-KR" dirty="0" smtClean="0">
                <a:latin typeface="Trebuchet MS" panose="020B0603020202020204" pitchFamily="34" charset="0"/>
              </a:rPr>
              <a:t>rear: </a:t>
            </a:r>
            <a:r>
              <a:rPr lang="ko-KR" altLang="en-US" dirty="0" smtClean="0">
                <a:latin typeface="Trebuchet MS" panose="020B0603020202020204" pitchFamily="34" charset="0"/>
              </a:rPr>
              <a:t>마지막 요소의 인덱스</a:t>
            </a:r>
          </a:p>
          <a:p>
            <a:pPr eaLnBrk="1" hangingPunct="1"/>
            <a:endParaRPr lang="en-US" altLang="ko-KR" dirty="0" smtClean="0">
              <a:latin typeface="Trebuchet MS" panose="020B0603020202020204" pitchFamily="34" charset="0"/>
            </a:endParaRPr>
          </a:p>
        </p:txBody>
      </p:sp>
      <p:grpSp>
        <p:nvGrpSpPr>
          <p:cNvPr id="8196" name="Group 4"/>
          <p:cNvGrpSpPr>
            <a:grpSpLocks/>
          </p:cNvGrpSpPr>
          <p:nvPr/>
        </p:nvGrpSpPr>
        <p:grpSpPr bwMode="auto">
          <a:xfrm>
            <a:off x="3176588" y="3473450"/>
            <a:ext cx="1944687" cy="1944688"/>
            <a:chOff x="1519" y="799"/>
            <a:chExt cx="2722" cy="2722"/>
          </a:xfrm>
        </p:grpSpPr>
        <p:sp>
          <p:nvSpPr>
            <p:cNvPr id="8211" name="Oval 5"/>
            <p:cNvSpPr>
              <a:spLocks noChangeArrowheads="1"/>
            </p:cNvSpPr>
            <p:nvPr/>
          </p:nvSpPr>
          <p:spPr bwMode="auto">
            <a:xfrm>
              <a:off x="1519" y="799"/>
              <a:ext cx="2722" cy="272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Trebuchet MS" panose="020B0603020202020204" pitchFamily="34" charset="0"/>
              </a:endParaRPr>
            </a:p>
          </p:txBody>
        </p:sp>
        <p:sp>
          <p:nvSpPr>
            <p:cNvPr id="8212" name="Oval 6"/>
            <p:cNvSpPr>
              <a:spLocks noChangeArrowheads="1"/>
            </p:cNvSpPr>
            <p:nvPr/>
          </p:nvSpPr>
          <p:spPr bwMode="auto">
            <a:xfrm>
              <a:off x="2426" y="1706"/>
              <a:ext cx="908" cy="90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Trebuchet MS" panose="020B0603020202020204" pitchFamily="34" charset="0"/>
              </a:endParaRPr>
            </a:p>
          </p:txBody>
        </p:sp>
        <p:sp>
          <p:nvSpPr>
            <p:cNvPr id="8213" name="Line 7"/>
            <p:cNvSpPr>
              <a:spLocks noChangeShapeType="1"/>
            </p:cNvSpPr>
            <p:nvPr/>
          </p:nvSpPr>
          <p:spPr bwMode="auto">
            <a:xfrm>
              <a:off x="2880" y="799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rebuchet MS" panose="020B0603020202020204" pitchFamily="34" charset="0"/>
              </a:endParaRPr>
            </a:p>
          </p:txBody>
        </p:sp>
        <p:sp>
          <p:nvSpPr>
            <p:cNvPr id="8214" name="Line 8"/>
            <p:cNvSpPr>
              <a:spLocks noChangeShapeType="1"/>
            </p:cNvSpPr>
            <p:nvPr/>
          </p:nvSpPr>
          <p:spPr bwMode="auto">
            <a:xfrm>
              <a:off x="2880" y="261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rebuchet MS" panose="020B0603020202020204" pitchFamily="34" charset="0"/>
              </a:endParaRPr>
            </a:p>
          </p:txBody>
        </p:sp>
        <p:sp>
          <p:nvSpPr>
            <p:cNvPr id="8215" name="Line 9"/>
            <p:cNvSpPr>
              <a:spLocks noChangeShapeType="1"/>
            </p:cNvSpPr>
            <p:nvPr/>
          </p:nvSpPr>
          <p:spPr bwMode="auto">
            <a:xfrm>
              <a:off x="1519" y="2160"/>
              <a:ext cx="9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rebuchet MS" panose="020B0603020202020204" pitchFamily="34" charset="0"/>
              </a:endParaRPr>
            </a:p>
          </p:txBody>
        </p:sp>
        <p:sp>
          <p:nvSpPr>
            <p:cNvPr id="8216" name="Line 10"/>
            <p:cNvSpPr>
              <a:spLocks noChangeShapeType="1"/>
            </p:cNvSpPr>
            <p:nvPr/>
          </p:nvSpPr>
          <p:spPr bwMode="auto">
            <a:xfrm>
              <a:off x="3334" y="2160"/>
              <a:ext cx="9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rebuchet MS" panose="020B0603020202020204" pitchFamily="34" charset="0"/>
              </a:endParaRPr>
            </a:p>
          </p:txBody>
        </p:sp>
        <p:sp>
          <p:nvSpPr>
            <p:cNvPr id="8217" name="Line 11"/>
            <p:cNvSpPr>
              <a:spLocks noChangeShapeType="1"/>
            </p:cNvSpPr>
            <p:nvPr/>
          </p:nvSpPr>
          <p:spPr bwMode="auto">
            <a:xfrm>
              <a:off x="1927" y="1207"/>
              <a:ext cx="635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rebuchet MS" panose="020B0603020202020204" pitchFamily="34" charset="0"/>
              </a:endParaRPr>
            </a:p>
          </p:txBody>
        </p:sp>
        <p:sp>
          <p:nvSpPr>
            <p:cNvPr id="8218" name="Line 12"/>
            <p:cNvSpPr>
              <a:spLocks noChangeShapeType="1"/>
            </p:cNvSpPr>
            <p:nvPr/>
          </p:nvSpPr>
          <p:spPr bwMode="auto">
            <a:xfrm flipH="1">
              <a:off x="3198" y="1207"/>
              <a:ext cx="635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rebuchet MS" panose="020B0603020202020204" pitchFamily="34" charset="0"/>
              </a:endParaRPr>
            </a:p>
          </p:txBody>
        </p:sp>
        <p:sp>
          <p:nvSpPr>
            <p:cNvPr id="8219" name="Line 13"/>
            <p:cNvSpPr>
              <a:spLocks noChangeShapeType="1"/>
            </p:cNvSpPr>
            <p:nvPr/>
          </p:nvSpPr>
          <p:spPr bwMode="auto">
            <a:xfrm flipH="1">
              <a:off x="1927" y="2478"/>
              <a:ext cx="635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rebuchet MS" panose="020B0603020202020204" pitchFamily="34" charset="0"/>
              </a:endParaRPr>
            </a:p>
          </p:txBody>
        </p:sp>
        <p:sp>
          <p:nvSpPr>
            <p:cNvPr id="8220" name="Line 14"/>
            <p:cNvSpPr>
              <a:spLocks noChangeShapeType="1"/>
            </p:cNvSpPr>
            <p:nvPr/>
          </p:nvSpPr>
          <p:spPr bwMode="auto">
            <a:xfrm>
              <a:off x="3198" y="2478"/>
              <a:ext cx="635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atin typeface="Trebuchet MS" panose="020B0603020202020204" pitchFamily="34" charset="0"/>
              </a:endParaRPr>
            </a:p>
          </p:txBody>
        </p:sp>
      </p:grpSp>
      <p:sp>
        <p:nvSpPr>
          <p:cNvPr id="8197" name="Text Box 15"/>
          <p:cNvSpPr txBox="1">
            <a:spLocks noChangeArrowheads="1"/>
          </p:cNvSpPr>
          <p:nvPr/>
        </p:nvSpPr>
        <p:spPr bwMode="auto">
          <a:xfrm>
            <a:off x="3535363" y="5345113"/>
            <a:ext cx="3064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Trebuchet MS" panose="020B0603020202020204" pitchFamily="34" charset="0"/>
                <a:ea typeface="HY엽서L" pitchFamily="18" charset="-127"/>
              </a:rPr>
              <a:t>0</a:t>
            </a:r>
          </a:p>
        </p:txBody>
      </p:sp>
      <p:sp>
        <p:nvSpPr>
          <p:cNvPr id="8198" name="Text Box 16"/>
          <p:cNvSpPr txBox="1">
            <a:spLocks noChangeArrowheads="1"/>
          </p:cNvSpPr>
          <p:nvPr/>
        </p:nvSpPr>
        <p:spPr bwMode="auto">
          <a:xfrm>
            <a:off x="2887663" y="4697413"/>
            <a:ext cx="3064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Trebuchet MS" panose="020B0603020202020204" pitchFamily="34" charset="0"/>
                <a:ea typeface="HY엽서L" pitchFamily="18" charset="-127"/>
              </a:rPr>
              <a:t>1</a:t>
            </a:r>
          </a:p>
        </p:txBody>
      </p:sp>
      <p:sp>
        <p:nvSpPr>
          <p:cNvPr id="8199" name="Text Box 17"/>
          <p:cNvSpPr txBox="1">
            <a:spLocks noChangeArrowheads="1"/>
          </p:cNvSpPr>
          <p:nvPr/>
        </p:nvSpPr>
        <p:spPr bwMode="auto">
          <a:xfrm>
            <a:off x="2887663" y="3760788"/>
            <a:ext cx="3064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Trebuchet MS" panose="020B0603020202020204" pitchFamily="34" charset="0"/>
                <a:ea typeface="HY엽서L" pitchFamily="18" charset="-127"/>
              </a:rPr>
              <a:t>2</a:t>
            </a:r>
          </a:p>
        </p:txBody>
      </p:sp>
      <p:sp>
        <p:nvSpPr>
          <p:cNvPr id="8200" name="Text Box 18"/>
          <p:cNvSpPr txBox="1">
            <a:spLocks noChangeArrowheads="1"/>
          </p:cNvSpPr>
          <p:nvPr/>
        </p:nvSpPr>
        <p:spPr bwMode="auto">
          <a:xfrm>
            <a:off x="3463925" y="3184525"/>
            <a:ext cx="3064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Trebuchet MS" panose="020B0603020202020204" pitchFamily="34" charset="0"/>
                <a:ea typeface="HY엽서L" pitchFamily="18" charset="-127"/>
              </a:rPr>
              <a:t>3</a:t>
            </a:r>
          </a:p>
        </p:txBody>
      </p:sp>
      <p:sp>
        <p:nvSpPr>
          <p:cNvPr id="8201" name="Text Box 19"/>
          <p:cNvSpPr txBox="1">
            <a:spLocks noChangeArrowheads="1"/>
          </p:cNvSpPr>
          <p:nvPr/>
        </p:nvSpPr>
        <p:spPr bwMode="auto">
          <a:xfrm>
            <a:off x="4400550" y="3257550"/>
            <a:ext cx="3064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Trebuchet MS" panose="020B0603020202020204" pitchFamily="34" charset="0"/>
                <a:ea typeface="HY엽서L" pitchFamily="18" charset="-127"/>
              </a:rPr>
              <a:t>4</a:t>
            </a:r>
          </a:p>
        </p:txBody>
      </p:sp>
      <p:sp>
        <p:nvSpPr>
          <p:cNvPr id="8202" name="Text Box 20"/>
          <p:cNvSpPr txBox="1">
            <a:spLocks noChangeArrowheads="1"/>
          </p:cNvSpPr>
          <p:nvPr/>
        </p:nvSpPr>
        <p:spPr bwMode="auto">
          <a:xfrm>
            <a:off x="5048250" y="3832225"/>
            <a:ext cx="3064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Trebuchet MS" panose="020B0603020202020204" pitchFamily="34" charset="0"/>
                <a:ea typeface="HY엽서L" pitchFamily="18" charset="-127"/>
              </a:rPr>
              <a:t>5</a:t>
            </a:r>
          </a:p>
        </p:txBody>
      </p:sp>
      <p:sp>
        <p:nvSpPr>
          <p:cNvPr id="8203" name="Text Box 21"/>
          <p:cNvSpPr txBox="1">
            <a:spLocks noChangeArrowheads="1"/>
          </p:cNvSpPr>
          <p:nvPr/>
        </p:nvSpPr>
        <p:spPr bwMode="auto">
          <a:xfrm>
            <a:off x="5048250" y="4697413"/>
            <a:ext cx="3064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Trebuchet MS" panose="020B0603020202020204" pitchFamily="34" charset="0"/>
                <a:ea typeface="HY엽서L" pitchFamily="18" charset="-127"/>
              </a:rPr>
              <a:t>6</a:t>
            </a:r>
          </a:p>
        </p:txBody>
      </p:sp>
      <p:sp>
        <p:nvSpPr>
          <p:cNvPr id="8204" name="Text Box 22"/>
          <p:cNvSpPr txBox="1">
            <a:spLocks noChangeArrowheads="1"/>
          </p:cNvSpPr>
          <p:nvPr/>
        </p:nvSpPr>
        <p:spPr bwMode="auto">
          <a:xfrm>
            <a:off x="4400550" y="5273675"/>
            <a:ext cx="3064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Trebuchet MS" panose="020B0603020202020204" pitchFamily="34" charset="0"/>
                <a:ea typeface="HY엽서L" pitchFamily="18" charset="-127"/>
              </a:rPr>
              <a:t>7</a:t>
            </a:r>
          </a:p>
        </p:txBody>
      </p:sp>
      <p:sp>
        <p:nvSpPr>
          <p:cNvPr id="8205" name="Line 23"/>
          <p:cNvSpPr>
            <a:spLocks noChangeShapeType="1"/>
          </p:cNvSpPr>
          <p:nvPr/>
        </p:nvSpPr>
        <p:spPr bwMode="auto">
          <a:xfrm flipV="1">
            <a:off x="3968750" y="5338763"/>
            <a:ext cx="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Trebuchet MS" panose="020B0603020202020204" pitchFamily="34" charset="0"/>
            </a:endParaRPr>
          </a:p>
        </p:txBody>
      </p:sp>
      <p:sp>
        <p:nvSpPr>
          <p:cNvPr id="8206" name="Text Box 24"/>
          <p:cNvSpPr txBox="1">
            <a:spLocks noChangeArrowheads="1"/>
          </p:cNvSpPr>
          <p:nvPr/>
        </p:nvSpPr>
        <p:spPr bwMode="auto">
          <a:xfrm>
            <a:off x="3895725" y="5627688"/>
            <a:ext cx="7008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dirty="0">
                <a:latin typeface="Trebuchet MS" panose="020B0603020202020204" pitchFamily="34" charset="0"/>
                <a:ea typeface="HY엽서L" pitchFamily="18" charset="-127"/>
              </a:rPr>
              <a:t>front</a:t>
            </a:r>
          </a:p>
        </p:txBody>
      </p:sp>
      <p:sp>
        <p:nvSpPr>
          <p:cNvPr id="8207" name="Text Box 25"/>
          <p:cNvSpPr txBox="1">
            <a:spLocks noChangeArrowheads="1"/>
          </p:cNvSpPr>
          <p:nvPr/>
        </p:nvSpPr>
        <p:spPr bwMode="auto">
          <a:xfrm>
            <a:off x="2528888" y="3184525"/>
            <a:ext cx="6126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Trebuchet MS" panose="020B0603020202020204" pitchFamily="34" charset="0"/>
                <a:ea typeface="HY엽서L" pitchFamily="18" charset="-127"/>
              </a:rPr>
              <a:t>rear</a:t>
            </a:r>
          </a:p>
        </p:txBody>
      </p:sp>
      <p:sp>
        <p:nvSpPr>
          <p:cNvPr id="8208" name="Text Box 26"/>
          <p:cNvSpPr txBox="1">
            <a:spLocks noChangeArrowheads="1"/>
          </p:cNvSpPr>
          <p:nvPr/>
        </p:nvSpPr>
        <p:spPr bwMode="auto">
          <a:xfrm>
            <a:off x="3357563" y="4552950"/>
            <a:ext cx="320922" cy="369332"/>
          </a:xfrm>
          <a:prstGeom prst="rect">
            <a:avLst/>
          </a:pr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Trebuchet MS" panose="020B0603020202020204" pitchFamily="34" charset="0"/>
                <a:ea typeface="HY엽서L" pitchFamily="18" charset="-127"/>
              </a:rPr>
              <a:t>A</a:t>
            </a:r>
          </a:p>
        </p:txBody>
      </p:sp>
      <p:sp>
        <p:nvSpPr>
          <p:cNvPr id="8209" name="Text Box 27"/>
          <p:cNvSpPr txBox="1">
            <a:spLocks noChangeArrowheads="1"/>
          </p:cNvSpPr>
          <p:nvPr/>
        </p:nvSpPr>
        <p:spPr bwMode="auto">
          <a:xfrm>
            <a:off x="3321050" y="3976688"/>
            <a:ext cx="327025" cy="366712"/>
          </a:xfrm>
          <a:prstGeom prst="rect">
            <a:avLst/>
          </a:pr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>
                <a:latin typeface="Trebuchet MS" panose="020B0603020202020204" pitchFamily="34" charset="0"/>
                <a:ea typeface="HY엽서L" pitchFamily="18" charset="-127"/>
              </a:rPr>
              <a:t>B</a:t>
            </a:r>
          </a:p>
        </p:txBody>
      </p:sp>
      <p:sp>
        <p:nvSpPr>
          <p:cNvPr id="8210" name="Line 28"/>
          <p:cNvSpPr>
            <a:spLocks noChangeShapeType="1"/>
          </p:cNvSpPr>
          <p:nvPr/>
        </p:nvSpPr>
        <p:spPr bwMode="auto">
          <a:xfrm>
            <a:off x="2889250" y="3473450"/>
            <a:ext cx="358775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10" y="1673805"/>
            <a:ext cx="6644919" cy="468052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원형큐의</a:t>
            </a:r>
            <a:r>
              <a:rPr lang="ko-KR" altLang="en-US" dirty="0" smtClean="0"/>
              <a:t> 동작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9" name="Rectangle 8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공백상태</a:t>
            </a:r>
            <a:r>
              <a:rPr lang="en-US" altLang="ko-KR" smtClean="0"/>
              <a:t>, </a:t>
            </a:r>
            <a:r>
              <a:rPr lang="ko-KR" altLang="en-US" smtClean="0"/>
              <a:t>포화상태</a:t>
            </a:r>
          </a:p>
        </p:txBody>
      </p:sp>
      <p:sp>
        <p:nvSpPr>
          <p:cNvPr id="10300" name="Rectangle 90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ko-KR" altLang="en-US" sz="1800" smtClean="0"/>
              <a:t>공백상태</a:t>
            </a:r>
            <a:r>
              <a:rPr lang="en-US" altLang="ko-KR" sz="1800" smtClean="0"/>
              <a:t>: front == rear</a:t>
            </a:r>
          </a:p>
          <a:p>
            <a:pPr eaLnBrk="1" hangingPunct="1"/>
            <a:r>
              <a:rPr lang="ko-KR" altLang="en-US" sz="1800" smtClean="0"/>
              <a:t>포화상태</a:t>
            </a:r>
            <a:r>
              <a:rPr lang="en-US" altLang="ko-KR" sz="1800" smtClean="0"/>
              <a:t>: front % M==(rear+1) % M</a:t>
            </a:r>
          </a:p>
          <a:p>
            <a:pPr eaLnBrk="1" hangingPunct="1"/>
            <a:r>
              <a:rPr lang="ko-KR" altLang="en-US" sz="1800" smtClean="0"/>
              <a:t>공백상태와 포화상태를 구별하기 위하여 하나의 공간은 항상 비워둔다</a:t>
            </a:r>
            <a:r>
              <a:rPr lang="en-US" altLang="ko-KR" sz="1800" smtClean="0"/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20" y="3023955"/>
            <a:ext cx="6679657" cy="25743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smtClean="0"/>
              <a:t>  프로그램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701570" y="1628800"/>
            <a:ext cx="7740650" cy="4444294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#include &lt;</a:t>
            </a:r>
            <a:r>
              <a:rPr lang="en-US" altLang="ko-KR" sz="1400" dirty="0" err="1">
                <a:latin typeface="Trebuchet MS" panose="020B0603020202020204" pitchFamily="34" charset="0"/>
              </a:rPr>
              <a:t>stdio.h</a:t>
            </a:r>
            <a:r>
              <a:rPr lang="en-US" altLang="ko-KR" sz="1400" dirty="0">
                <a:latin typeface="Trebuchet MS" panose="020B0603020202020204" pitchFamily="34" charset="0"/>
              </a:rPr>
              <a:t>&gt;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#include &lt;</a:t>
            </a:r>
            <a:r>
              <a:rPr lang="en-US" altLang="ko-KR" sz="1400" dirty="0" err="1">
                <a:latin typeface="Trebuchet MS" panose="020B0603020202020204" pitchFamily="34" charset="0"/>
              </a:rPr>
              <a:t>stdlib.h</a:t>
            </a:r>
            <a:r>
              <a:rPr lang="en-US" altLang="ko-KR" sz="1400" dirty="0">
                <a:latin typeface="Trebuchet MS" panose="020B0603020202020204" pitchFamily="34" charset="0"/>
              </a:rPr>
              <a:t>&gt;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===== </a:t>
            </a:r>
            <a:r>
              <a:rPr lang="ko-KR" altLang="en-US" sz="1400" dirty="0" err="1">
                <a:latin typeface="Trebuchet MS" panose="020B0603020202020204" pitchFamily="34" charset="0"/>
              </a:rPr>
              <a:t>원형큐</a:t>
            </a:r>
            <a:r>
              <a:rPr lang="ko-KR" altLang="en-US" sz="1400" dirty="0">
                <a:latin typeface="Trebuchet MS" panose="020B0603020202020204" pitchFamily="34" charset="0"/>
              </a:rPr>
              <a:t> 코드 시작 </a:t>
            </a:r>
            <a:r>
              <a:rPr lang="en-US" altLang="ko-KR" sz="1400" dirty="0">
                <a:latin typeface="Trebuchet MS" panose="020B0603020202020204" pitchFamily="34" charset="0"/>
              </a:rPr>
              <a:t>======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#define MAX_QUEUE_SIZE 5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>
                <a:latin typeface="Trebuchet MS" panose="020B0603020202020204" pitchFamily="34" charset="0"/>
              </a:rPr>
              <a:t>typedef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element;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>
                <a:latin typeface="Trebuchet MS" panose="020B0603020202020204" pitchFamily="34" charset="0"/>
              </a:rPr>
              <a:t>typedef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struct</a:t>
            </a:r>
            <a:r>
              <a:rPr lang="en-US" altLang="ko-KR" sz="1400" dirty="0">
                <a:latin typeface="Trebuchet MS" panose="020B0603020202020204" pitchFamily="34" charset="0"/>
              </a:rPr>
              <a:t> { // </a:t>
            </a:r>
            <a:r>
              <a:rPr lang="ko-KR" altLang="en-US" sz="1400" dirty="0">
                <a:latin typeface="Trebuchet MS" panose="020B0603020202020204" pitchFamily="34" charset="0"/>
              </a:rPr>
              <a:t>큐 타입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ko-KR" altLang="en-US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>
                <a:latin typeface="Trebuchet MS" panose="020B0603020202020204" pitchFamily="34" charset="0"/>
              </a:rPr>
              <a:t>element  data[MAX_QUEUE_SIZE];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 front, rear;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 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</a:t>
            </a:r>
            <a:r>
              <a:rPr lang="ko-KR" altLang="en-US" sz="1400" dirty="0">
                <a:latin typeface="Trebuchet MS" panose="020B0603020202020204" pitchFamily="34" charset="0"/>
              </a:rPr>
              <a:t>오류 함수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void error(char *message)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fprintf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stderr</a:t>
            </a:r>
            <a:r>
              <a:rPr lang="en-US" altLang="ko-KR" sz="1400" dirty="0">
                <a:latin typeface="Trebuchet MS" panose="020B0603020202020204" pitchFamily="34" charset="0"/>
              </a:rPr>
              <a:t>, "%s\n", message);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exit(1);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smtClean="0"/>
              <a:t>  프로그램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701570" y="1628800"/>
            <a:ext cx="7740650" cy="4444294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</a:t>
            </a:r>
            <a:r>
              <a:rPr lang="ko-KR" altLang="en-US" sz="1400" dirty="0">
                <a:latin typeface="Trebuchet MS" panose="020B0603020202020204" pitchFamily="34" charset="0"/>
              </a:rPr>
              <a:t>공백 상태 검출 함수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void </a:t>
            </a:r>
            <a:r>
              <a:rPr lang="en-US" altLang="ko-KR" sz="1400" dirty="0" err="1">
                <a:latin typeface="Trebuchet MS" panose="020B0603020202020204" pitchFamily="34" charset="0"/>
              </a:rPr>
              <a:t>init_queue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q-&gt;front = q-&gt;rear = 0;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</a:t>
            </a:r>
            <a:r>
              <a:rPr lang="ko-KR" altLang="en-US" sz="1400" dirty="0">
                <a:latin typeface="Trebuchet MS" panose="020B0603020202020204" pitchFamily="34" charset="0"/>
              </a:rPr>
              <a:t>공백 상태 검출 함수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is_empty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return (q-&gt;front == q-&gt;rear);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</a:t>
            </a:r>
            <a:r>
              <a:rPr lang="ko-KR" altLang="en-US" sz="1400" dirty="0">
                <a:latin typeface="Trebuchet MS" panose="020B0603020202020204" pitchFamily="34" charset="0"/>
              </a:rPr>
              <a:t>포화 상태 검출 함수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is_full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return ((q-&gt;rear + 1) % MAX_QUEUE_SIZE == q-&gt;front);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7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smtClean="0"/>
              <a:t>  프로그램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701570" y="1628800"/>
            <a:ext cx="7740650" cy="3927229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</a:t>
            </a:r>
            <a:r>
              <a:rPr lang="ko-KR" altLang="en-US" sz="1400" dirty="0" err="1">
                <a:latin typeface="Trebuchet MS" panose="020B0603020202020204" pitchFamily="34" charset="0"/>
              </a:rPr>
              <a:t>원형큐</a:t>
            </a:r>
            <a:r>
              <a:rPr lang="ko-KR" altLang="en-US" sz="1400" dirty="0">
                <a:latin typeface="Trebuchet MS" panose="020B0603020202020204" pitchFamily="34" charset="0"/>
              </a:rPr>
              <a:t> 출력 함수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void 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queue_print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("QUEUE(front=%d rear=%d) = ", q-&gt;front, q-&gt;rear);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if (!</a:t>
            </a:r>
            <a:r>
              <a:rPr lang="en-US" altLang="ko-KR" sz="1400" dirty="0" err="1">
                <a:latin typeface="Trebuchet MS" panose="020B0603020202020204" pitchFamily="34" charset="0"/>
              </a:rPr>
              <a:t>is_empty</a:t>
            </a:r>
            <a:r>
              <a:rPr lang="en-US" altLang="ko-KR" sz="1400" dirty="0">
                <a:latin typeface="Trebuchet MS" panose="020B0603020202020204" pitchFamily="34" charset="0"/>
              </a:rPr>
              <a:t>(q)) 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 = q-&gt;front;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do 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	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 = (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 + 1) % (MAX_QUEUE_SIZE);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("%d | ", q-&gt;data[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]);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	if (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 == q-&gt;rear)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		break;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} while (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 != q-&gt;front);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("\n");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1500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smtClean="0"/>
              <a:t>  프로그램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701570" y="1628800"/>
            <a:ext cx="7740650" cy="4444294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</a:t>
            </a:r>
            <a:r>
              <a:rPr lang="ko-KR" altLang="en-US" sz="1400" dirty="0">
                <a:latin typeface="Trebuchet MS" panose="020B0603020202020204" pitchFamily="34" charset="0"/>
              </a:rPr>
              <a:t>삽입 함수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void </a:t>
            </a:r>
            <a:r>
              <a:rPr lang="en-US" altLang="ko-KR" sz="1400" dirty="0" err="1">
                <a:latin typeface="Trebuchet MS" panose="020B0603020202020204" pitchFamily="34" charset="0"/>
              </a:rPr>
              <a:t>enqueue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 *q, element item)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if (</a:t>
            </a:r>
            <a:r>
              <a:rPr lang="en-US" altLang="ko-KR" sz="1400" dirty="0" err="1">
                <a:latin typeface="Trebuchet MS" panose="020B0603020202020204" pitchFamily="34" charset="0"/>
              </a:rPr>
              <a:t>is_full</a:t>
            </a:r>
            <a:r>
              <a:rPr lang="en-US" altLang="ko-KR" sz="1400" dirty="0">
                <a:latin typeface="Trebuchet MS" panose="020B0603020202020204" pitchFamily="34" charset="0"/>
              </a:rPr>
              <a:t>(q))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error("</a:t>
            </a:r>
            <a:r>
              <a:rPr lang="ko-KR" altLang="en-US" sz="1400" dirty="0">
                <a:latin typeface="Trebuchet MS" panose="020B0603020202020204" pitchFamily="34" charset="0"/>
              </a:rPr>
              <a:t>큐가 포화상태입니다</a:t>
            </a:r>
            <a:r>
              <a:rPr lang="en-US" altLang="ko-KR" sz="1400" dirty="0">
                <a:latin typeface="Trebuchet MS" panose="020B0603020202020204" pitchFamily="34" charset="0"/>
              </a:rPr>
              <a:t>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q-&gt;rear = (q-&gt;rear + 1) % MAX_QUEUE_SIZE;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q-&gt;data[q-&gt;rear] = item;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</a:t>
            </a:r>
            <a:r>
              <a:rPr lang="ko-KR" altLang="en-US" sz="1400" dirty="0">
                <a:latin typeface="Trebuchet MS" panose="020B0603020202020204" pitchFamily="34" charset="0"/>
              </a:rPr>
              <a:t>삭제 함수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element 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dequeue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if (</a:t>
            </a:r>
            <a:r>
              <a:rPr lang="en-US" altLang="ko-KR" sz="1400" dirty="0" err="1">
                <a:latin typeface="Trebuchet MS" panose="020B0603020202020204" pitchFamily="34" charset="0"/>
              </a:rPr>
              <a:t>is_empty</a:t>
            </a:r>
            <a:r>
              <a:rPr lang="en-US" altLang="ko-KR" sz="1400" dirty="0">
                <a:latin typeface="Trebuchet MS" panose="020B0603020202020204" pitchFamily="34" charset="0"/>
              </a:rPr>
              <a:t>(q))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error("</a:t>
            </a:r>
            <a:r>
              <a:rPr lang="ko-KR" altLang="en-US" sz="1400" dirty="0">
                <a:latin typeface="Trebuchet MS" panose="020B0603020202020204" pitchFamily="34" charset="0"/>
              </a:rPr>
              <a:t>큐가 </a:t>
            </a:r>
            <a:r>
              <a:rPr lang="ko-KR" altLang="en-US" sz="1400" dirty="0" err="1">
                <a:latin typeface="Trebuchet MS" panose="020B0603020202020204" pitchFamily="34" charset="0"/>
              </a:rPr>
              <a:t>공백상태입니다</a:t>
            </a:r>
            <a:r>
              <a:rPr lang="en-US" altLang="ko-KR" sz="1400" dirty="0">
                <a:latin typeface="Trebuchet MS" panose="020B0603020202020204" pitchFamily="34" charset="0"/>
              </a:rPr>
              <a:t>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q-&gt;front = (q-&gt;front + 1) % MAX_QUEUE_SIZE;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return q-&gt;data[q-&gt;front];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699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smtClean="0"/>
              <a:t>  프로그램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746575" y="12059"/>
            <a:ext cx="7740650" cy="6771084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main(void)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 queue;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element;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init_queue</a:t>
            </a:r>
            <a:r>
              <a:rPr lang="en-US" altLang="ko-KR" sz="1400" dirty="0">
                <a:latin typeface="Trebuchet MS" panose="020B0603020202020204" pitchFamily="34" charset="0"/>
              </a:rPr>
              <a:t>(&amp;queue);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("--</a:t>
            </a:r>
            <a:r>
              <a:rPr lang="ko-KR" altLang="en-US" sz="1400" dirty="0">
                <a:latin typeface="Trebuchet MS" panose="020B0603020202020204" pitchFamily="34" charset="0"/>
              </a:rPr>
              <a:t>데이터 추가 단계</a:t>
            </a:r>
            <a:r>
              <a:rPr lang="en-US" altLang="ko-KR" sz="1400" dirty="0">
                <a:latin typeface="Trebuchet MS" panose="020B0603020202020204" pitchFamily="34" charset="0"/>
              </a:rPr>
              <a:t>--\n");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while (!</a:t>
            </a:r>
            <a:r>
              <a:rPr lang="en-US" altLang="ko-KR" sz="1400" dirty="0" err="1">
                <a:latin typeface="Trebuchet MS" panose="020B0603020202020204" pitchFamily="34" charset="0"/>
              </a:rPr>
              <a:t>is_full</a:t>
            </a:r>
            <a:r>
              <a:rPr lang="en-US" altLang="ko-KR" sz="1400" dirty="0">
                <a:latin typeface="Trebuchet MS" panose="020B0603020202020204" pitchFamily="34" charset="0"/>
              </a:rPr>
              <a:t>(&amp;queue))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</a:t>
            </a:r>
            <a:r>
              <a:rPr lang="ko-KR" altLang="en-US" sz="1400" dirty="0">
                <a:latin typeface="Trebuchet MS" panose="020B0603020202020204" pitchFamily="34" charset="0"/>
              </a:rPr>
              <a:t>정수를 </a:t>
            </a:r>
            <a:r>
              <a:rPr lang="ko-KR" altLang="en-US" sz="1400" dirty="0" err="1">
                <a:latin typeface="Trebuchet MS" panose="020B0603020202020204" pitchFamily="34" charset="0"/>
              </a:rPr>
              <a:t>입력하시오</a:t>
            </a:r>
            <a:r>
              <a:rPr lang="en-US" altLang="ko-KR" sz="1400" dirty="0">
                <a:latin typeface="Trebuchet MS" panose="020B0603020202020204" pitchFamily="34" charset="0"/>
              </a:rPr>
              <a:t>: 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</a:t>
            </a:r>
            <a:r>
              <a:rPr lang="en-US" altLang="ko-KR" sz="1400" dirty="0" err="1">
                <a:latin typeface="Trebuchet MS" panose="020B0603020202020204" pitchFamily="34" charset="0"/>
              </a:rPr>
              <a:t>scanf</a:t>
            </a:r>
            <a:r>
              <a:rPr lang="en-US" altLang="ko-KR" sz="1400" dirty="0">
                <a:latin typeface="Trebuchet MS" panose="020B0603020202020204" pitchFamily="34" charset="0"/>
              </a:rPr>
              <a:t>("%d", &amp;element);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</a:t>
            </a:r>
            <a:r>
              <a:rPr lang="en-US" altLang="ko-KR" sz="1400" dirty="0" err="1">
                <a:latin typeface="Trebuchet MS" panose="020B0603020202020204" pitchFamily="34" charset="0"/>
              </a:rPr>
              <a:t>enqueue</a:t>
            </a:r>
            <a:r>
              <a:rPr lang="en-US" altLang="ko-KR" sz="1400" dirty="0">
                <a:latin typeface="Trebuchet MS" panose="020B0603020202020204" pitchFamily="34" charset="0"/>
              </a:rPr>
              <a:t>(&amp;queue, element);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queue_print</a:t>
            </a:r>
            <a:r>
              <a:rPr lang="en-US" altLang="ko-KR" sz="1400" dirty="0">
                <a:latin typeface="Trebuchet MS" panose="020B0603020202020204" pitchFamily="34" charset="0"/>
              </a:rPr>
              <a:t>(&amp;queue);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</a:t>
            </a:r>
            <a:r>
              <a:rPr lang="ko-KR" altLang="en-US" sz="1400" dirty="0">
                <a:latin typeface="Trebuchet MS" panose="020B0603020202020204" pitchFamily="34" charset="0"/>
              </a:rPr>
              <a:t>큐는 포화상태입니다</a:t>
            </a:r>
            <a:r>
              <a:rPr lang="en-US" altLang="ko-KR" sz="1400" dirty="0">
                <a:latin typeface="Trebuchet MS" panose="020B0603020202020204" pitchFamily="34" charset="0"/>
              </a:rPr>
              <a:t>.\n\n");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("--</a:t>
            </a:r>
            <a:r>
              <a:rPr lang="ko-KR" altLang="en-US" sz="1400" dirty="0">
                <a:latin typeface="Trebuchet MS" panose="020B0603020202020204" pitchFamily="34" charset="0"/>
              </a:rPr>
              <a:t>데이터 삭제 단계</a:t>
            </a:r>
            <a:r>
              <a:rPr lang="en-US" altLang="ko-KR" sz="1400" dirty="0">
                <a:latin typeface="Trebuchet MS" panose="020B0603020202020204" pitchFamily="34" charset="0"/>
              </a:rPr>
              <a:t>--\n");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while (!</a:t>
            </a:r>
            <a:r>
              <a:rPr lang="en-US" altLang="ko-KR" sz="1400" dirty="0" err="1">
                <a:latin typeface="Trebuchet MS" panose="020B0603020202020204" pitchFamily="34" charset="0"/>
              </a:rPr>
              <a:t>is_empty</a:t>
            </a:r>
            <a:r>
              <a:rPr lang="en-US" altLang="ko-KR" sz="1400" dirty="0">
                <a:latin typeface="Trebuchet MS" panose="020B0603020202020204" pitchFamily="34" charset="0"/>
              </a:rPr>
              <a:t>(&amp;queue))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element = 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dequeue</a:t>
            </a:r>
            <a:r>
              <a:rPr lang="en-US" altLang="ko-KR" sz="1400" dirty="0">
                <a:latin typeface="Trebuchet MS" panose="020B0603020202020204" pitchFamily="34" charset="0"/>
              </a:rPr>
              <a:t>(&amp;queue);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</a:t>
            </a:r>
            <a:r>
              <a:rPr lang="ko-KR" altLang="en-US" sz="1400" dirty="0">
                <a:latin typeface="Trebuchet MS" panose="020B0603020202020204" pitchFamily="34" charset="0"/>
              </a:rPr>
              <a:t>꺼내진 정수</a:t>
            </a:r>
            <a:r>
              <a:rPr lang="en-US" altLang="ko-KR" sz="1400" dirty="0">
                <a:latin typeface="Trebuchet MS" panose="020B0603020202020204" pitchFamily="34" charset="0"/>
              </a:rPr>
              <a:t>: %d \n", element);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queue_print</a:t>
            </a:r>
            <a:r>
              <a:rPr lang="en-US" altLang="ko-KR" sz="1400" dirty="0">
                <a:latin typeface="Trebuchet MS" panose="020B0603020202020204" pitchFamily="34" charset="0"/>
              </a:rPr>
              <a:t>(&amp;queue);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</a:t>
            </a:r>
            <a:r>
              <a:rPr lang="ko-KR" altLang="en-US" sz="1400" dirty="0">
                <a:latin typeface="Trebuchet MS" panose="020B0603020202020204" pitchFamily="34" charset="0"/>
              </a:rPr>
              <a:t>큐는 </a:t>
            </a:r>
            <a:r>
              <a:rPr lang="ko-KR" altLang="en-US" sz="1400" dirty="0" err="1">
                <a:latin typeface="Trebuchet MS" panose="020B0603020202020204" pitchFamily="34" charset="0"/>
              </a:rPr>
              <a:t>공백상태입니다</a:t>
            </a:r>
            <a:r>
              <a:rPr lang="en-US" altLang="ko-KR" sz="1400" dirty="0">
                <a:latin typeface="Trebuchet MS" panose="020B0603020202020204" pitchFamily="34" charset="0"/>
              </a:rPr>
              <a:t>.\n");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return 0;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8155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701570" y="1448780"/>
            <a:ext cx="7740650" cy="4616648"/>
          </a:xfrm>
          <a:prstGeom prst="rect">
            <a:avLst/>
          </a:prstGeom>
          <a:solidFill>
            <a:srgbClr val="3366FF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--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데이터 추가 단계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--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정수를 </a:t>
            </a:r>
            <a:r>
              <a:rPr lang="ko-KR" altLang="en-US" sz="1400" dirty="0" err="1">
                <a:solidFill>
                  <a:schemeClr val="bg1"/>
                </a:solidFill>
                <a:latin typeface="Trebuchet MS" panose="020B0603020202020204" pitchFamily="34" charset="0"/>
              </a:rPr>
              <a:t>입력하시오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: 10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QUEUE(front=0 rear=1) = 10 |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정수를 </a:t>
            </a:r>
            <a:r>
              <a:rPr lang="ko-KR" altLang="en-US" sz="1400" dirty="0" err="1">
                <a:solidFill>
                  <a:schemeClr val="bg1"/>
                </a:solidFill>
                <a:latin typeface="Trebuchet MS" panose="020B0603020202020204" pitchFamily="34" charset="0"/>
              </a:rPr>
              <a:t>입력하시오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: 20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QUEUE(front=0 rear=2) = 10 | 20 |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정수를 </a:t>
            </a:r>
            <a:r>
              <a:rPr lang="ko-KR" altLang="en-US" sz="1400" dirty="0" err="1">
                <a:solidFill>
                  <a:schemeClr val="bg1"/>
                </a:solidFill>
                <a:latin typeface="Trebuchet MS" panose="020B0603020202020204" pitchFamily="34" charset="0"/>
              </a:rPr>
              <a:t>입력하시오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: 30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QUEUE(front=0 rear=3) = 10 | 20 | 30 |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정수를 </a:t>
            </a:r>
            <a:r>
              <a:rPr lang="ko-KR" altLang="en-US" sz="1400" dirty="0" err="1">
                <a:solidFill>
                  <a:schemeClr val="bg1"/>
                </a:solidFill>
                <a:latin typeface="Trebuchet MS" panose="020B0603020202020204" pitchFamily="34" charset="0"/>
              </a:rPr>
              <a:t>입력하시오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: 40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QUEUE(front=0 rear=4) = 10 | 20 | 30 | 40 |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큐는 포화상태입니다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.</a:t>
            </a:r>
          </a:p>
          <a:p>
            <a:endParaRPr lang="en-US" altLang="ko-KR" sz="1400" dirty="0">
              <a:solidFill>
                <a:schemeClr val="bg1"/>
              </a:solidFill>
              <a:latin typeface="Trebuchet MS" panose="020B0603020202020204" pitchFamily="34" charset="0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--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데이터 삭제 단계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--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꺼내진 정수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: 10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QUEUE(front=1 rear=4) = 20 | 30 | 40 |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꺼내진 정수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: 20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QUEUE(front=2 rear=4) = 30 | 40 |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꺼내진 정수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: 30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QUEUE(front=3 rear=4) = 40 |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꺼내진 정수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: 40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QUEUE(front=4 rear=4) =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큐는 </a:t>
            </a:r>
            <a:r>
              <a:rPr lang="ko-KR" altLang="en-US" sz="1400" dirty="0" err="1">
                <a:solidFill>
                  <a:schemeClr val="bg1"/>
                </a:solidFill>
                <a:latin typeface="Trebuchet MS" panose="020B0603020202020204" pitchFamily="34" charset="0"/>
              </a:rPr>
              <a:t>공백상태입니다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6849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큐의 응용</a:t>
            </a:r>
            <a:r>
              <a:rPr lang="en-US" altLang="ko-KR" dirty="0" smtClean="0"/>
              <a:t>: </a:t>
            </a:r>
            <a:r>
              <a:rPr lang="ko-KR" altLang="en-US" dirty="0" smtClean="0"/>
              <a:t>버퍼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241630" y="1898830"/>
            <a:ext cx="5247695" cy="318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545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smtClean="0"/>
              <a:t>  프로그램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656565" y="1088740"/>
            <a:ext cx="7740650" cy="5219891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main(void)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 queue;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element;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init_queue</a:t>
            </a:r>
            <a:r>
              <a:rPr lang="en-US" altLang="ko-KR" sz="1400" dirty="0">
                <a:latin typeface="Trebuchet MS" panose="020B0603020202020204" pitchFamily="34" charset="0"/>
              </a:rPr>
              <a:t>(&amp;queue);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srand</a:t>
            </a:r>
            <a:r>
              <a:rPr lang="en-US" altLang="ko-KR" sz="1400" dirty="0">
                <a:latin typeface="Trebuchet MS" panose="020B0603020202020204" pitchFamily="34" charset="0"/>
              </a:rPr>
              <a:t>(time(NULL));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for(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=0;i&lt;100; 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++){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if (rand() % 5 == 0) {	// 5</a:t>
            </a:r>
            <a:r>
              <a:rPr lang="ko-KR" altLang="en-US" sz="1400" dirty="0">
                <a:latin typeface="Trebuchet MS" panose="020B0603020202020204" pitchFamily="34" charset="0"/>
              </a:rPr>
              <a:t>로 나누어 떨어지면 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ko-KR" altLang="en-US" sz="1400" dirty="0">
                <a:latin typeface="Trebuchet MS" panose="020B0603020202020204" pitchFamily="34" charset="0"/>
              </a:rPr>
              <a:t>			</a:t>
            </a:r>
            <a:r>
              <a:rPr lang="en-US" altLang="ko-KR" sz="1400" dirty="0" err="1">
                <a:latin typeface="Trebuchet MS" panose="020B0603020202020204" pitchFamily="34" charset="0"/>
              </a:rPr>
              <a:t>enqueue</a:t>
            </a:r>
            <a:r>
              <a:rPr lang="en-US" altLang="ko-KR" sz="1400" dirty="0">
                <a:latin typeface="Trebuchet MS" panose="020B0603020202020204" pitchFamily="34" charset="0"/>
              </a:rPr>
              <a:t>(&amp;queue, rand()%100);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queue_print</a:t>
            </a:r>
            <a:r>
              <a:rPr lang="en-US" altLang="ko-KR" sz="1400" dirty="0">
                <a:latin typeface="Trebuchet MS" panose="020B0603020202020204" pitchFamily="34" charset="0"/>
              </a:rPr>
              <a:t>(&amp;queue);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if (rand() % 10 == 0) {	// 10</a:t>
            </a:r>
            <a:r>
              <a:rPr lang="ko-KR" altLang="en-US" sz="1400" dirty="0">
                <a:latin typeface="Trebuchet MS" panose="020B0603020202020204" pitchFamily="34" charset="0"/>
              </a:rPr>
              <a:t>로 나누어 떨어지면 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ko-KR" altLang="en-US" sz="1400" dirty="0">
                <a:latin typeface="Trebuchet MS" panose="020B0603020202020204" pitchFamily="34" charset="0"/>
              </a:rPr>
              <a:t>		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data = 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dequeue</a:t>
            </a:r>
            <a:r>
              <a:rPr lang="en-US" altLang="ko-KR" sz="1400" dirty="0">
                <a:latin typeface="Trebuchet MS" panose="020B0603020202020204" pitchFamily="34" charset="0"/>
              </a:rPr>
              <a:t>(&amp;queue);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queue_print</a:t>
            </a:r>
            <a:r>
              <a:rPr lang="en-US" altLang="ko-KR" sz="1400" dirty="0">
                <a:latin typeface="Trebuchet MS" panose="020B0603020202020204" pitchFamily="34" charset="0"/>
              </a:rPr>
              <a:t>(&amp;queue);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return 0;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08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701570" y="1718810"/>
            <a:ext cx="7740650" cy="2246769"/>
          </a:xfrm>
          <a:prstGeom prst="rect">
            <a:avLst/>
          </a:prstGeom>
          <a:solidFill>
            <a:srgbClr val="3366FF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...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QUEUE(front=0 rear=1) = 53 |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QUEUE(front=1 rear=1) =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QUEUE(front=1 rear=2) = 73 |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QUEUE(front=1 rear=2) = 73 |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QUEUE(front=1 rear=2) = 73 |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QUEUE(front=1 rear=3) = 73 | 96 |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QUEUE(front=1 rear=3) = 73 | 96 |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QUEUE(front=1 rear=3) = 73 | 96 |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903765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덱</a:t>
            </a:r>
            <a:r>
              <a:rPr lang="en-US" altLang="ko-KR" smtClean="0"/>
              <a:t>(deque)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1289050"/>
          </a:xfrm>
        </p:spPr>
        <p:txBody>
          <a:bodyPr/>
          <a:lstStyle/>
          <a:p>
            <a:pPr eaLnBrk="1" hangingPunct="1"/>
            <a:r>
              <a:rPr lang="ko-KR" altLang="en-US" b="1" smtClean="0"/>
              <a:t>덱</a:t>
            </a:r>
            <a:r>
              <a:rPr lang="en-US" altLang="ko-KR" b="1" smtClean="0"/>
              <a:t>(deque)</a:t>
            </a:r>
            <a:r>
              <a:rPr lang="ko-KR" altLang="en-US" smtClean="0"/>
              <a:t>은 </a:t>
            </a:r>
            <a:r>
              <a:rPr lang="en-US" altLang="ko-KR" b="1" smtClean="0"/>
              <a:t>double-ended queue</a:t>
            </a:r>
            <a:r>
              <a:rPr lang="ko-KR" altLang="en-US" b="1" smtClean="0"/>
              <a:t>의 줄임말</a:t>
            </a:r>
            <a:r>
              <a:rPr lang="ko-KR" altLang="en-US" smtClean="0"/>
              <a:t>로서 큐의 전단</a:t>
            </a:r>
            <a:r>
              <a:rPr lang="en-US" altLang="ko-KR" smtClean="0"/>
              <a:t>(front)</a:t>
            </a:r>
            <a:r>
              <a:rPr lang="ko-KR" altLang="en-US" smtClean="0"/>
              <a:t>와 후단</a:t>
            </a:r>
            <a:r>
              <a:rPr lang="en-US" altLang="ko-KR" smtClean="0"/>
              <a:t>(rear)</a:t>
            </a:r>
            <a:r>
              <a:rPr lang="ko-KR" altLang="en-US" smtClean="0"/>
              <a:t>에서 모두 삽입과 삭제가 가능한 큐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95" y="3158970"/>
            <a:ext cx="7524471" cy="19459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덱 </a:t>
            </a:r>
            <a:r>
              <a:rPr lang="en-US" altLang="ko-KR" smtClean="0"/>
              <a:t>ADT </a:t>
            </a:r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656565" y="1718810"/>
            <a:ext cx="7877175" cy="3141663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>
                <a:latin typeface="Trebuchet MS" panose="020B0603020202020204" pitchFamily="34" charset="0"/>
              </a:rPr>
              <a:t>∙</a:t>
            </a:r>
            <a:r>
              <a:rPr lang="ko-KR" altLang="en-US" sz="1400">
                <a:latin typeface="Trebuchet MS" panose="020B0603020202020204" pitchFamily="34" charset="0"/>
              </a:rPr>
              <a:t>객체</a:t>
            </a:r>
            <a:r>
              <a:rPr lang="en-US" altLang="ko-KR" sz="1400">
                <a:latin typeface="Trebuchet MS" panose="020B0603020202020204" pitchFamily="34" charset="0"/>
              </a:rPr>
              <a:t>: n</a:t>
            </a:r>
            <a:r>
              <a:rPr lang="ko-KR" altLang="en-US" sz="1400">
                <a:latin typeface="Trebuchet MS" panose="020B0603020202020204" pitchFamily="34" charset="0"/>
              </a:rPr>
              <a:t>개의 </a:t>
            </a:r>
            <a:r>
              <a:rPr lang="en-US" altLang="ko-KR" sz="1400">
                <a:latin typeface="Trebuchet MS" panose="020B0603020202020204" pitchFamily="34" charset="0"/>
              </a:rPr>
              <a:t>element</a:t>
            </a:r>
            <a:r>
              <a:rPr lang="ko-KR" altLang="en-US" sz="1400">
                <a:latin typeface="Trebuchet MS" panose="020B0603020202020204" pitchFamily="34" charset="0"/>
              </a:rPr>
              <a:t>형으로 구성된 요소들의 순서있는 모임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ko-KR" altLang="en-US" sz="1400">
                <a:latin typeface="Trebuchet MS" panose="020B0603020202020204" pitchFamily="34" charset="0"/>
              </a:rPr>
              <a:t>∙연산</a:t>
            </a:r>
            <a:r>
              <a:rPr lang="en-US" altLang="ko-KR" sz="1400">
                <a:latin typeface="Trebuchet MS" panose="020B0603020202020204" pitchFamily="34" charset="0"/>
              </a:rPr>
              <a:t>:  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>
                <a:latin typeface="Trebuchet MS" panose="020B0603020202020204" pitchFamily="34" charset="0"/>
              </a:rPr>
              <a:t> ▪ create() ::=		</a:t>
            </a:r>
            <a:r>
              <a:rPr lang="ko-KR" altLang="en-US" sz="1400">
                <a:latin typeface="Trebuchet MS" panose="020B0603020202020204" pitchFamily="34" charset="0"/>
              </a:rPr>
              <a:t>덱을 생성한다</a:t>
            </a:r>
            <a:r>
              <a:rPr lang="en-US" altLang="ko-KR" sz="1400">
                <a:latin typeface="Trebuchet MS" panose="020B0603020202020204" pitchFamily="34" charset="0"/>
              </a:rPr>
              <a:t>.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>
                <a:latin typeface="Trebuchet MS" panose="020B0603020202020204" pitchFamily="34" charset="0"/>
              </a:rPr>
              <a:t> ▪ init(dq) ::=		</a:t>
            </a:r>
            <a:r>
              <a:rPr lang="ko-KR" altLang="en-US" sz="1400">
                <a:latin typeface="Trebuchet MS" panose="020B0603020202020204" pitchFamily="34" charset="0"/>
              </a:rPr>
              <a:t>덱을 초기화한다</a:t>
            </a:r>
            <a:r>
              <a:rPr lang="en-US" altLang="ko-KR" sz="1400">
                <a:latin typeface="Trebuchet MS" panose="020B0603020202020204" pitchFamily="34" charset="0"/>
              </a:rPr>
              <a:t>.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>
                <a:latin typeface="Trebuchet MS" panose="020B0603020202020204" pitchFamily="34" charset="0"/>
              </a:rPr>
              <a:t> ▪ is_empty(dq) ::=  	</a:t>
            </a:r>
            <a:r>
              <a:rPr lang="ko-KR" altLang="en-US" sz="1400">
                <a:latin typeface="Trebuchet MS" panose="020B0603020202020204" pitchFamily="34" charset="0"/>
              </a:rPr>
              <a:t>덱이 공백상태인지를 검사한다</a:t>
            </a:r>
            <a:r>
              <a:rPr lang="en-US" altLang="ko-KR" sz="1400">
                <a:latin typeface="Trebuchet MS" panose="020B0603020202020204" pitchFamily="34" charset="0"/>
              </a:rPr>
              <a:t>. 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>
                <a:latin typeface="Trebuchet MS" panose="020B0603020202020204" pitchFamily="34" charset="0"/>
              </a:rPr>
              <a:t> ▪ is_full(dq) ::=	</a:t>
            </a:r>
            <a:r>
              <a:rPr lang="ko-KR" altLang="en-US" sz="1400">
                <a:latin typeface="Trebuchet MS" panose="020B0603020202020204" pitchFamily="34" charset="0"/>
              </a:rPr>
              <a:t>덱이 포화상태인지를 검사한다</a:t>
            </a:r>
            <a:r>
              <a:rPr lang="en-US" altLang="ko-KR" sz="1400">
                <a:latin typeface="Trebuchet MS" panose="020B0603020202020204" pitchFamily="34" charset="0"/>
              </a:rPr>
              <a:t>.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>
                <a:latin typeface="Trebuchet MS" panose="020B0603020202020204" pitchFamily="34" charset="0"/>
              </a:rPr>
              <a:t> ▪ add_front(dq, e) ::=   </a:t>
            </a:r>
            <a:r>
              <a:rPr lang="ko-KR" altLang="en-US" sz="1400">
                <a:latin typeface="Trebuchet MS" panose="020B0603020202020204" pitchFamily="34" charset="0"/>
              </a:rPr>
              <a:t>덱의 앞에 요소를 추가한다</a:t>
            </a:r>
            <a:r>
              <a:rPr lang="en-US" altLang="ko-KR" sz="1400">
                <a:latin typeface="Trebuchet MS" panose="020B0603020202020204" pitchFamily="34" charset="0"/>
              </a:rPr>
              <a:t>.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>
                <a:latin typeface="Trebuchet MS" panose="020B0603020202020204" pitchFamily="34" charset="0"/>
              </a:rPr>
              <a:t> ▪ add_rear(dq, e) ::= 	</a:t>
            </a:r>
            <a:r>
              <a:rPr lang="ko-KR" altLang="en-US" sz="1400">
                <a:latin typeface="Trebuchet MS" panose="020B0603020202020204" pitchFamily="34" charset="0"/>
              </a:rPr>
              <a:t>덱의 뒤에 요소를 추가한다</a:t>
            </a:r>
            <a:r>
              <a:rPr lang="en-US" altLang="ko-KR" sz="1400">
                <a:latin typeface="Trebuchet MS" panose="020B0603020202020204" pitchFamily="34" charset="0"/>
              </a:rPr>
              <a:t>.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>
                <a:latin typeface="Trebuchet MS" panose="020B0603020202020204" pitchFamily="34" charset="0"/>
              </a:rPr>
              <a:t> ▪ delete_front(dq) ::=	</a:t>
            </a:r>
            <a:r>
              <a:rPr lang="ko-KR" altLang="en-US" sz="1400">
                <a:latin typeface="Trebuchet MS" panose="020B0603020202020204" pitchFamily="34" charset="0"/>
              </a:rPr>
              <a:t>덱의 앞에 있는 요소를 반환한 다음 삭제한다 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ko-KR" altLang="en-US" sz="1400">
                <a:latin typeface="Trebuchet MS" panose="020B0603020202020204" pitchFamily="34" charset="0"/>
              </a:rPr>
              <a:t> ▪ </a:t>
            </a:r>
            <a:r>
              <a:rPr lang="en-US" altLang="ko-KR" sz="1400">
                <a:latin typeface="Trebuchet MS" panose="020B0603020202020204" pitchFamily="34" charset="0"/>
              </a:rPr>
              <a:t>delete_rear(dq) ::=	</a:t>
            </a:r>
            <a:r>
              <a:rPr lang="ko-KR" altLang="en-US" sz="1400">
                <a:latin typeface="Trebuchet MS" panose="020B0603020202020204" pitchFamily="34" charset="0"/>
              </a:rPr>
              <a:t>덱의 뒤에 있는 요소를 반환한 다음 삭제한다</a:t>
            </a:r>
            <a:r>
              <a:rPr lang="en-US" altLang="ko-KR" sz="1400">
                <a:latin typeface="Trebuchet MS" panose="020B0603020202020204" pitchFamily="34" charset="0"/>
              </a:rPr>
              <a:t>.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>
                <a:latin typeface="Trebuchet MS" panose="020B0603020202020204" pitchFamily="34" charset="0"/>
              </a:rPr>
              <a:t> ▪ get_front(q) ::= 	</a:t>
            </a:r>
            <a:r>
              <a:rPr lang="ko-KR" altLang="en-US" sz="1400">
                <a:latin typeface="Trebuchet MS" panose="020B0603020202020204" pitchFamily="34" charset="0"/>
              </a:rPr>
              <a:t>덱의 앞에서 삭제하지 않고 앞에 있는 요소를 반환한다</a:t>
            </a:r>
            <a:r>
              <a:rPr lang="en-US" altLang="ko-KR" sz="1400">
                <a:latin typeface="Trebuchet MS" panose="020B0603020202020204" pitchFamily="34" charset="0"/>
              </a:rPr>
              <a:t>.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>
                <a:latin typeface="Trebuchet MS" panose="020B0603020202020204" pitchFamily="34" charset="0"/>
              </a:rPr>
              <a:t> ▪ get_rear(q) ::= 	</a:t>
            </a:r>
            <a:r>
              <a:rPr lang="ko-KR" altLang="en-US" sz="1400">
                <a:latin typeface="Trebuchet MS" panose="020B0603020202020204" pitchFamily="34" charset="0"/>
              </a:rPr>
              <a:t>덱의 뒤에서 삭제하지 않고 뒤에 있는 요소를 반환한다</a:t>
            </a:r>
            <a:r>
              <a:rPr lang="en-US" altLang="ko-KR" sz="1400">
                <a:latin typeface="Trebuchet MS" panose="020B060302020202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덱의 연산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670" y="1673805"/>
            <a:ext cx="5445605" cy="44721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배열을 이용한 </a:t>
            </a:r>
            <a:r>
              <a:rPr lang="ko-KR" altLang="en-US" dirty="0" err="1" smtClean="0"/>
              <a:t>덱의</a:t>
            </a:r>
            <a:r>
              <a:rPr lang="ko-KR" altLang="en-US" dirty="0" smtClean="0"/>
              <a:t> 구현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2775" y="1992651"/>
            <a:ext cx="8153400" cy="371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891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smtClean="0"/>
              <a:t>  프로그램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656565" y="503675"/>
            <a:ext cx="7740650" cy="5736955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#include &lt;</a:t>
            </a:r>
            <a:r>
              <a:rPr lang="en-US" altLang="ko-KR" sz="1400" dirty="0" err="1">
                <a:latin typeface="Trebuchet MS" panose="020B0603020202020204" pitchFamily="34" charset="0"/>
              </a:rPr>
              <a:t>stdio.h</a:t>
            </a:r>
            <a:r>
              <a:rPr lang="en-US" altLang="ko-KR" sz="1400" dirty="0">
                <a:latin typeface="Trebuchet MS" panose="020B0603020202020204" pitchFamily="34" charset="0"/>
              </a:rPr>
              <a:t>&gt;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#include &lt;</a:t>
            </a:r>
            <a:r>
              <a:rPr lang="en-US" altLang="ko-KR" sz="1400" dirty="0" err="1">
                <a:latin typeface="Trebuchet MS" panose="020B0603020202020204" pitchFamily="34" charset="0"/>
              </a:rPr>
              <a:t>stdlib.h</a:t>
            </a:r>
            <a:r>
              <a:rPr lang="en-US" altLang="ko-KR" sz="1400" dirty="0">
                <a:latin typeface="Trebuchet MS" panose="020B0603020202020204" pitchFamily="34" charset="0"/>
              </a:rPr>
              <a:t>&gt;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#define MAX_QUEUE_SIZE 5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>
                <a:latin typeface="Trebuchet MS" panose="020B0603020202020204" pitchFamily="34" charset="0"/>
              </a:rPr>
              <a:t>typedef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element;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>
                <a:latin typeface="Trebuchet MS" panose="020B0603020202020204" pitchFamily="34" charset="0"/>
              </a:rPr>
              <a:t>typedef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struct</a:t>
            </a:r>
            <a:r>
              <a:rPr lang="en-US" altLang="ko-KR" sz="1400" dirty="0">
                <a:latin typeface="Trebuchet MS" panose="020B0603020202020204" pitchFamily="34" charset="0"/>
              </a:rPr>
              <a:t> { // </a:t>
            </a:r>
            <a:r>
              <a:rPr lang="ko-KR" altLang="en-US" sz="1400" dirty="0">
                <a:latin typeface="Trebuchet MS" panose="020B0603020202020204" pitchFamily="34" charset="0"/>
              </a:rPr>
              <a:t>큐 타입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ko-KR" altLang="en-US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>
                <a:latin typeface="Trebuchet MS" panose="020B0603020202020204" pitchFamily="34" charset="0"/>
              </a:rPr>
              <a:t>element  data[MAX_QUEUE_SIZE];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 front, rear;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 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DequeType</a:t>
            </a:r>
            <a:r>
              <a:rPr lang="en-US" altLang="ko-KR" sz="1400" dirty="0">
                <a:latin typeface="Trebuchet MS" panose="020B0603020202020204" pitchFamily="34" charset="0"/>
              </a:rPr>
              <a:t>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</a:t>
            </a:r>
            <a:r>
              <a:rPr lang="ko-KR" altLang="en-US" sz="1400" dirty="0">
                <a:latin typeface="Trebuchet MS" panose="020B0603020202020204" pitchFamily="34" charset="0"/>
              </a:rPr>
              <a:t>오류 함수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void error(char *message)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fprintf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stderr</a:t>
            </a:r>
            <a:r>
              <a:rPr lang="en-US" altLang="ko-KR" sz="1400" dirty="0">
                <a:latin typeface="Trebuchet MS" panose="020B0603020202020204" pitchFamily="34" charset="0"/>
              </a:rPr>
              <a:t>, "%s\n", message);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exit(1);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</a:t>
            </a:r>
            <a:r>
              <a:rPr lang="ko-KR" altLang="en-US" sz="1400" dirty="0">
                <a:latin typeface="Trebuchet MS" panose="020B0603020202020204" pitchFamily="34" charset="0"/>
              </a:rPr>
              <a:t>초기화 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void </a:t>
            </a:r>
            <a:r>
              <a:rPr lang="en-US" altLang="ko-KR" sz="1400" dirty="0" err="1">
                <a:latin typeface="Trebuchet MS" panose="020B0603020202020204" pitchFamily="34" charset="0"/>
              </a:rPr>
              <a:t>init_deque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q-&gt;front = q-&gt;rear = 0;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3493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smtClean="0"/>
              <a:t>  프로그램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746575" y="33663"/>
            <a:ext cx="7740650" cy="6512552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</a:t>
            </a:r>
            <a:r>
              <a:rPr lang="ko-KR" altLang="en-US" sz="1400" dirty="0">
                <a:latin typeface="Trebuchet MS" panose="020B0603020202020204" pitchFamily="34" charset="0"/>
              </a:rPr>
              <a:t>공백 상태 검출 함수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is_empty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return (q-&gt;front == q-&gt;rear);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smtClean="0">
                <a:latin typeface="Trebuchet MS" panose="020B0603020202020204" pitchFamily="34" charset="0"/>
              </a:rPr>
              <a:t>}</a:t>
            </a: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smtClean="0">
                <a:latin typeface="Trebuchet MS" panose="020B0603020202020204" pitchFamily="34" charset="0"/>
              </a:rPr>
              <a:t>// </a:t>
            </a:r>
            <a:r>
              <a:rPr lang="ko-KR" altLang="en-US" sz="1400" dirty="0">
                <a:latin typeface="Trebuchet MS" panose="020B0603020202020204" pitchFamily="34" charset="0"/>
              </a:rPr>
              <a:t>포화 상태 검출 함수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is_full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return ((q-&gt;rear + 1) % MAX_QUEUE_SIZE == q-&gt;front);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smtClean="0">
                <a:latin typeface="Trebuchet MS" panose="020B0603020202020204" pitchFamily="34" charset="0"/>
              </a:rPr>
              <a:t>// </a:t>
            </a:r>
            <a:r>
              <a:rPr lang="ko-KR" altLang="en-US" sz="1400" dirty="0" err="1">
                <a:latin typeface="Trebuchet MS" panose="020B0603020202020204" pitchFamily="34" charset="0"/>
              </a:rPr>
              <a:t>원형큐</a:t>
            </a:r>
            <a:r>
              <a:rPr lang="ko-KR" altLang="en-US" sz="1400" dirty="0">
                <a:latin typeface="Trebuchet MS" panose="020B0603020202020204" pitchFamily="34" charset="0"/>
              </a:rPr>
              <a:t> 출력 함수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void 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deque_print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("DEQUE(front=%d rear=%d) = ", q-&gt;front, q-&gt;rear);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if (!</a:t>
            </a:r>
            <a:r>
              <a:rPr lang="en-US" altLang="ko-KR" sz="1400" dirty="0" err="1">
                <a:latin typeface="Trebuchet MS" panose="020B0603020202020204" pitchFamily="34" charset="0"/>
              </a:rPr>
              <a:t>is_empty</a:t>
            </a:r>
            <a:r>
              <a:rPr lang="en-US" altLang="ko-KR" sz="1400" dirty="0">
                <a:latin typeface="Trebuchet MS" panose="020B0603020202020204" pitchFamily="34" charset="0"/>
              </a:rPr>
              <a:t>(q)) 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 = q-&gt;front;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do 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 = (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 + 1) % (MAX_QUEUE_SIZE);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("%d | ", q-&gt;data[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]);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if (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 == q-&gt;rear)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	break;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} while (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 != q-&gt;front);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("\n");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10170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smtClean="0"/>
              <a:t>  프로그램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791580" y="1628800"/>
            <a:ext cx="7740650" cy="4444294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</a:t>
            </a:r>
            <a:r>
              <a:rPr lang="ko-KR" altLang="en-US" sz="1400" dirty="0">
                <a:latin typeface="Trebuchet MS" panose="020B0603020202020204" pitchFamily="34" charset="0"/>
              </a:rPr>
              <a:t>삽입 함수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void </a:t>
            </a:r>
            <a:r>
              <a:rPr lang="en-US" altLang="ko-KR" sz="1400" dirty="0" err="1">
                <a:latin typeface="Trebuchet MS" panose="020B0603020202020204" pitchFamily="34" charset="0"/>
              </a:rPr>
              <a:t>add_rear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DequeType</a:t>
            </a:r>
            <a:r>
              <a:rPr lang="en-US" altLang="ko-KR" sz="1400" dirty="0">
                <a:latin typeface="Trebuchet MS" panose="020B0603020202020204" pitchFamily="34" charset="0"/>
              </a:rPr>
              <a:t> *q, element item)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if (</a:t>
            </a:r>
            <a:r>
              <a:rPr lang="en-US" altLang="ko-KR" sz="1400" dirty="0" err="1">
                <a:latin typeface="Trebuchet MS" panose="020B0603020202020204" pitchFamily="34" charset="0"/>
              </a:rPr>
              <a:t>is_full</a:t>
            </a:r>
            <a:r>
              <a:rPr lang="en-US" altLang="ko-KR" sz="1400" dirty="0">
                <a:latin typeface="Trebuchet MS" panose="020B0603020202020204" pitchFamily="34" charset="0"/>
              </a:rPr>
              <a:t>(q))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error("</a:t>
            </a:r>
            <a:r>
              <a:rPr lang="ko-KR" altLang="en-US" sz="1400" dirty="0">
                <a:latin typeface="Trebuchet MS" panose="020B0603020202020204" pitchFamily="34" charset="0"/>
              </a:rPr>
              <a:t>큐가 포화상태입니다</a:t>
            </a:r>
            <a:r>
              <a:rPr lang="en-US" altLang="ko-KR" sz="1400" dirty="0">
                <a:latin typeface="Trebuchet MS" panose="020B0603020202020204" pitchFamily="34" charset="0"/>
              </a:rPr>
              <a:t>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q-&gt;rear = (q-&gt;rear + 1) % MAX_QUEUE_SIZE;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q-&gt;data[q-&gt;rear] = item;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</a:t>
            </a:r>
            <a:r>
              <a:rPr lang="ko-KR" altLang="en-US" sz="1400" dirty="0">
                <a:latin typeface="Trebuchet MS" panose="020B0603020202020204" pitchFamily="34" charset="0"/>
              </a:rPr>
              <a:t>삭제 함수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element </a:t>
            </a:r>
            <a:r>
              <a:rPr lang="en-US" altLang="ko-KR" sz="1400" dirty="0" err="1">
                <a:latin typeface="Trebuchet MS" panose="020B0603020202020204" pitchFamily="34" charset="0"/>
              </a:rPr>
              <a:t>delete_front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if (</a:t>
            </a:r>
            <a:r>
              <a:rPr lang="en-US" altLang="ko-KR" sz="1400" dirty="0" err="1">
                <a:latin typeface="Trebuchet MS" panose="020B0603020202020204" pitchFamily="34" charset="0"/>
              </a:rPr>
              <a:t>is_empty</a:t>
            </a:r>
            <a:r>
              <a:rPr lang="en-US" altLang="ko-KR" sz="1400" dirty="0">
                <a:latin typeface="Trebuchet MS" panose="020B0603020202020204" pitchFamily="34" charset="0"/>
              </a:rPr>
              <a:t>(q))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error("</a:t>
            </a:r>
            <a:r>
              <a:rPr lang="ko-KR" altLang="en-US" sz="1400" dirty="0">
                <a:latin typeface="Trebuchet MS" panose="020B0603020202020204" pitchFamily="34" charset="0"/>
              </a:rPr>
              <a:t>큐가 </a:t>
            </a:r>
            <a:r>
              <a:rPr lang="ko-KR" altLang="en-US" sz="1400" dirty="0" err="1">
                <a:latin typeface="Trebuchet MS" panose="020B0603020202020204" pitchFamily="34" charset="0"/>
              </a:rPr>
              <a:t>공백상태입니다</a:t>
            </a:r>
            <a:r>
              <a:rPr lang="en-US" altLang="ko-KR" sz="1400" dirty="0">
                <a:latin typeface="Trebuchet MS" panose="020B0603020202020204" pitchFamily="34" charset="0"/>
              </a:rPr>
              <a:t>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q-&gt;front = (q-&gt;front + 1) % MAX_QUEUE_SIZE;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return q-&gt;data[q-&gt;front];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8577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smtClean="0"/>
              <a:t>  프로그램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791580" y="1628800"/>
            <a:ext cx="7740650" cy="3927229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</a:t>
            </a:r>
            <a:r>
              <a:rPr lang="ko-KR" altLang="en-US" sz="1400" dirty="0">
                <a:latin typeface="Trebuchet MS" panose="020B0603020202020204" pitchFamily="34" charset="0"/>
              </a:rPr>
              <a:t>삭제 함수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element </a:t>
            </a:r>
            <a:r>
              <a:rPr lang="en-US" altLang="ko-KR" sz="1400" dirty="0" err="1">
                <a:latin typeface="Trebuchet MS" panose="020B0603020202020204" pitchFamily="34" charset="0"/>
              </a:rPr>
              <a:t>get_front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if (</a:t>
            </a:r>
            <a:r>
              <a:rPr lang="en-US" altLang="ko-KR" sz="1400" dirty="0" err="1">
                <a:latin typeface="Trebuchet MS" panose="020B0603020202020204" pitchFamily="34" charset="0"/>
              </a:rPr>
              <a:t>is_empty</a:t>
            </a:r>
            <a:r>
              <a:rPr lang="en-US" altLang="ko-KR" sz="1400" dirty="0">
                <a:latin typeface="Trebuchet MS" panose="020B0603020202020204" pitchFamily="34" charset="0"/>
              </a:rPr>
              <a:t>(q))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error("</a:t>
            </a:r>
            <a:r>
              <a:rPr lang="ko-KR" altLang="en-US" sz="1400" dirty="0">
                <a:latin typeface="Trebuchet MS" panose="020B0603020202020204" pitchFamily="34" charset="0"/>
              </a:rPr>
              <a:t>큐가 </a:t>
            </a:r>
            <a:r>
              <a:rPr lang="ko-KR" altLang="en-US" sz="1400" dirty="0" err="1">
                <a:latin typeface="Trebuchet MS" panose="020B0603020202020204" pitchFamily="34" charset="0"/>
              </a:rPr>
              <a:t>공백상태입니다</a:t>
            </a:r>
            <a:r>
              <a:rPr lang="en-US" altLang="ko-KR" sz="1400" dirty="0">
                <a:latin typeface="Trebuchet MS" panose="020B0603020202020204" pitchFamily="34" charset="0"/>
              </a:rPr>
              <a:t>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return q-&gt;data[(q-&gt;front + 1) % MAX_QUEUE_SIZE];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void </a:t>
            </a:r>
            <a:r>
              <a:rPr lang="en-US" altLang="ko-KR" sz="1400" dirty="0" err="1">
                <a:latin typeface="Trebuchet MS" panose="020B0603020202020204" pitchFamily="34" charset="0"/>
              </a:rPr>
              <a:t>add_front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DequeType</a:t>
            </a:r>
            <a:r>
              <a:rPr lang="en-US" altLang="ko-KR" sz="1400" dirty="0">
                <a:latin typeface="Trebuchet MS" panose="020B0603020202020204" pitchFamily="34" charset="0"/>
              </a:rPr>
              <a:t> *q, element </a:t>
            </a:r>
            <a:r>
              <a:rPr lang="en-US" altLang="ko-KR" sz="1400" dirty="0" err="1">
                <a:latin typeface="Trebuchet MS" panose="020B0603020202020204" pitchFamily="34" charset="0"/>
              </a:rPr>
              <a:t>val</a:t>
            </a:r>
            <a:r>
              <a:rPr lang="en-US" altLang="ko-KR" sz="1400" dirty="0">
                <a:latin typeface="Trebuchet MS" panose="020B0603020202020204" pitchFamily="34" charset="0"/>
              </a:rPr>
              <a:t>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if (</a:t>
            </a:r>
            <a:r>
              <a:rPr lang="en-US" altLang="ko-KR" sz="1400" dirty="0" err="1">
                <a:latin typeface="Trebuchet MS" panose="020B0603020202020204" pitchFamily="34" charset="0"/>
              </a:rPr>
              <a:t>is_full</a:t>
            </a:r>
            <a:r>
              <a:rPr lang="en-US" altLang="ko-KR" sz="1400" dirty="0">
                <a:latin typeface="Trebuchet MS" panose="020B0603020202020204" pitchFamily="34" charset="0"/>
              </a:rPr>
              <a:t>(q))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error("</a:t>
            </a:r>
            <a:r>
              <a:rPr lang="ko-KR" altLang="en-US" sz="1400" dirty="0">
                <a:latin typeface="Trebuchet MS" panose="020B0603020202020204" pitchFamily="34" charset="0"/>
              </a:rPr>
              <a:t>큐가 포화상태입니다</a:t>
            </a:r>
            <a:r>
              <a:rPr lang="en-US" altLang="ko-KR" sz="1400" dirty="0">
                <a:latin typeface="Trebuchet MS" panose="020B0603020202020204" pitchFamily="34" charset="0"/>
              </a:rPr>
              <a:t>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q-&gt;data[q-&gt;front] = </a:t>
            </a:r>
            <a:r>
              <a:rPr lang="en-US" altLang="ko-KR" sz="1400" dirty="0" err="1">
                <a:latin typeface="Trebuchet MS" panose="020B0603020202020204" pitchFamily="34" charset="0"/>
              </a:rPr>
              <a:t>val</a:t>
            </a:r>
            <a:r>
              <a:rPr lang="en-US" altLang="ko-KR" sz="1400" dirty="0">
                <a:latin typeface="Trebuchet MS" panose="020B0603020202020204" pitchFamily="34" charset="0"/>
              </a:rPr>
              <a:t>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q-&gt;front = (q-&gt;front - 1 + MAX_QUEUE_SIZE) % MAX_QUEUE_SIZE;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61646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smtClean="0"/>
              <a:t>  프로그램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791580" y="1628800"/>
            <a:ext cx="7740650" cy="3927229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element </a:t>
            </a:r>
            <a:r>
              <a:rPr lang="en-US" altLang="ko-KR" sz="1400" dirty="0" err="1">
                <a:latin typeface="Trebuchet MS" panose="020B0603020202020204" pitchFamily="34" charset="0"/>
              </a:rPr>
              <a:t>delete_rear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prev</a:t>
            </a:r>
            <a:r>
              <a:rPr lang="en-US" altLang="ko-KR" sz="1400" dirty="0">
                <a:latin typeface="Trebuchet MS" panose="020B0603020202020204" pitchFamily="34" charset="0"/>
              </a:rPr>
              <a:t> = q-&gt;rear;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if (</a:t>
            </a:r>
            <a:r>
              <a:rPr lang="en-US" altLang="ko-KR" sz="1400" dirty="0" err="1">
                <a:latin typeface="Trebuchet MS" panose="020B0603020202020204" pitchFamily="34" charset="0"/>
              </a:rPr>
              <a:t>is_empty</a:t>
            </a:r>
            <a:r>
              <a:rPr lang="en-US" altLang="ko-KR" sz="1400" dirty="0">
                <a:latin typeface="Trebuchet MS" panose="020B0603020202020204" pitchFamily="34" charset="0"/>
              </a:rPr>
              <a:t>(q))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error("</a:t>
            </a:r>
            <a:r>
              <a:rPr lang="ko-KR" altLang="en-US" sz="1400" dirty="0">
                <a:latin typeface="Trebuchet MS" panose="020B0603020202020204" pitchFamily="34" charset="0"/>
              </a:rPr>
              <a:t>큐가 </a:t>
            </a:r>
            <a:r>
              <a:rPr lang="ko-KR" altLang="en-US" sz="1400" dirty="0" err="1">
                <a:latin typeface="Trebuchet MS" panose="020B0603020202020204" pitchFamily="34" charset="0"/>
              </a:rPr>
              <a:t>공백상태입니다</a:t>
            </a:r>
            <a:r>
              <a:rPr lang="en-US" altLang="ko-KR" sz="1400" dirty="0">
                <a:latin typeface="Trebuchet MS" panose="020B0603020202020204" pitchFamily="34" charset="0"/>
              </a:rPr>
              <a:t>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q-&gt;rear = (q-&gt;rear - 1 + MAX_QUEUE_SIZE) % MAX_QUEUE_SIZE;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return q-&gt;data[</a:t>
            </a:r>
            <a:r>
              <a:rPr lang="en-US" altLang="ko-KR" sz="1400" dirty="0" err="1">
                <a:latin typeface="Trebuchet MS" panose="020B0603020202020204" pitchFamily="34" charset="0"/>
              </a:rPr>
              <a:t>prev</a:t>
            </a:r>
            <a:r>
              <a:rPr lang="en-US" altLang="ko-KR" sz="1400" dirty="0">
                <a:latin typeface="Trebuchet MS" panose="020B0603020202020204" pitchFamily="34" charset="0"/>
              </a:rPr>
              <a:t>];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element </a:t>
            </a:r>
            <a:r>
              <a:rPr lang="en-US" altLang="ko-KR" sz="1400" dirty="0" err="1">
                <a:latin typeface="Trebuchet MS" panose="020B0603020202020204" pitchFamily="34" charset="0"/>
              </a:rPr>
              <a:t>get_rear</a:t>
            </a:r>
            <a:r>
              <a:rPr lang="en-US" altLang="ko-KR" sz="1400" dirty="0">
                <a:latin typeface="Trebuchet MS" panose="020B0603020202020204" pitchFamily="34" charset="0"/>
              </a:rPr>
              <a:t>(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DequeType</a:t>
            </a:r>
            <a:r>
              <a:rPr lang="en-US" altLang="ko-KR" sz="1400" dirty="0">
                <a:latin typeface="Trebuchet MS" panose="020B0603020202020204" pitchFamily="34" charset="0"/>
              </a:rPr>
              <a:t> *q)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if (</a:t>
            </a:r>
            <a:r>
              <a:rPr lang="en-US" altLang="ko-KR" sz="1400" dirty="0" err="1">
                <a:latin typeface="Trebuchet MS" panose="020B0603020202020204" pitchFamily="34" charset="0"/>
              </a:rPr>
              <a:t>is_empty</a:t>
            </a:r>
            <a:r>
              <a:rPr lang="en-US" altLang="ko-KR" sz="1400" dirty="0">
                <a:latin typeface="Trebuchet MS" panose="020B0603020202020204" pitchFamily="34" charset="0"/>
              </a:rPr>
              <a:t>(q))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error("</a:t>
            </a:r>
            <a:r>
              <a:rPr lang="ko-KR" altLang="en-US" sz="1400" dirty="0">
                <a:latin typeface="Trebuchet MS" panose="020B0603020202020204" pitchFamily="34" charset="0"/>
              </a:rPr>
              <a:t>큐가 </a:t>
            </a:r>
            <a:r>
              <a:rPr lang="ko-KR" altLang="en-US" sz="1400" dirty="0" err="1">
                <a:latin typeface="Trebuchet MS" panose="020B0603020202020204" pitchFamily="34" charset="0"/>
              </a:rPr>
              <a:t>공백상태입니다</a:t>
            </a:r>
            <a:r>
              <a:rPr lang="en-US" altLang="ko-KR" sz="1400" dirty="0">
                <a:latin typeface="Trebuchet MS" panose="020B0603020202020204" pitchFamily="34" charset="0"/>
              </a:rPr>
              <a:t>");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return q-&gt;data[q-&gt;rear];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32883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smtClean="0"/>
              <a:t>  프로그램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791580" y="1628800"/>
            <a:ext cx="7740650" cy="3927229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main(void)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DequeType</a:t>
            </a:r>
            <a:r>
              <a:rPr lang="en-US" altLang="ko-KR" sz="1400" dirty="0">
                <a:latin typeface="Trebuchet MS" panose="020B0603020202020204" pitchFamily="34" charset="0"/>
              </a:rPr>
              <a:t> queue;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init_deque</a:t>
            </a:r>
            <a:r>
              <a:rPr lang="en-US" altLang="ko-KR" sz="1400" dirty="0">
                <a:latin typeface="Trebuchet MS" panose="020B0603020202020204" pitchFamily="34" charset="0"/>
              </a:rPr>
              <a:t>(&amp;queue);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for (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 = 0; 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 &lt; 3; 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++) 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</a:t>
            </a:r>
            <a:r>
              <a:rPr lang="en-US" altLang="ko-KR" sz="1400" dirty="0" err="1">
                <a:latin typeface="Trebuchet MS" panose="020B0603020202020204" pitchFamily="34" charset="0"/>
              </a:rPr>
              <a:t>add_front</a:t>
            </a:r>
            <a:r>
              <a:rPr lang="en-US" altLang="ko-KR" sz="1400" dirty="0">
                <a:latin typeface="Trebuchet MS" panose="020B0603020202020204" pitchFamily="34" charset="0"/>
              </a:rPr>
              <a:t>(&amp;queue, 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deque_print</a:t>
            </a:r>
            <a:r>
              <a:rPr lang="en-US" altLang="ko-KR" sz="1400" dirty="0">
                <a:latin typeface="Trebuchet MS" panose="020B0603020202020204" pitchFamily="34" charset="0"/>
              </a:rPr>
              <a:t>(&amp;queue);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for (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 = 0; 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 &lt; 3; </a:t>
            </a:r>
            <a:r>
              <a:rPr lang="en-US" altLang="ko-KR" sz="1400" dirty="0" err="1">
                <a:latin typeface="Trebuchet MS" panose="020B0603020202020204" pitchFamily="34" charset="0"/>
              </a:rPr>
              <a:t>i</a:t>
            </a:r>
            <a:r>
              <a:rPr lang="en-US" altLang="ko-KR" sz="1400" dirty="0">
                <a:latin typeface="Trebuchet MS" panose="020B0603020202020204" pitchFamily="34" charset="0"/>
              </a:rPr>
              <a:t>++) 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</a:t>
            </a:r>
            <a:r>
              <a:rPr lang="en-US" altLang="ko-KR" sz="1400" dirty="0" err="1">
                <a:latin typeface="Trebuchet MS" panose="020B0603020202020204" pitchFamily="34" charset="0"/>
              </a:rPr>
              <a:t>delete_rear</a:t>
            </a:r>
            <a:r>
              <a:rPr lang="en-US" altLang="ko-KR" sz="1400" dirty="0">
                <a:latin typeface="Trebuchet MS" panose="020B0603020202020204" pitchFamily="34" charset="0"/>
              </a:rPr>
              <a:t>(&amp;queue);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deque_print</a:t>
            </a:r>
            <a:r>
              <a:rPr lang="en-US" altLang="ko-KR" sz="1400" dirty="0">
                <a:latin typeface="Trebuchet MS" panose="020B0603020202020204" pitchFamily="34" charset="0"/>
              </a:rPr>
              <a:t>(&amp;queue);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return 0;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7685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701570" y="1718810"/>
            <a:ext cx="7740650" cy="1384995"/>
          </a:xfrm>
          <a:prstGeom prst="rect">
            <a:avLst/>
          </a:prstGeom>
          <a:solidFill>
            <a:srgbClr val="3366FF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DEQUE(front=4 rear=0) = 0 |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DEQUE(front=3 rear=0) = 1 | 0 |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DEQUE(front=2 rear=0) = 2 | 1 | 0 |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DEQUE(front=2 rear=4) = 2 | 1 |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DEQUE(front=2 rear=3) = 2 |</a:t>
            </a:r>
          </a:p>
          <a:p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DEQUE(front=2 rear=2) =</a:t>
            </a:r>
          </a:p>
        </p:txBody>
      </p:sp>
    </p:spTree>
    <p:extLst>
      <p:ext uri="{BB962C8B-B14F-4D97-AF65-F5344CB8AC3E}">
        <p14:creationId xmlns:p14="http://schemas.microsoft.com/office/powerpoint/2010/main" val="38321735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큐의 응용</a:t>
            </a:r>
            <a:r>
              <a:rPr lang="en-US" altLang="ko-KR" smtClean="0"/>
              <a:t>: </a:t>
            </a:r>
            <a:r>
              <a:rPr lang="ko-KR" altLang="en-US" smtClean="0"/>
              <a:t>시뮬레이션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ko-KR" altLang="en-US" dirty="0" err="1" smtClean="0"/>
              <a:t>큐잉모델은</a:t>
            </a:r>
            <a:r>
              <a:rPr lang="ko-KR" altLang="en-US" dirty="0" smtClean="0"/>
              <a:t> 고객에 대한 서비스를 수행하는 서버와 서비스를 받는 고객들로 이루어진다</a:t>
            </a:r>
          </a:p>
          <a:p>
            <a:pPr eaLnBrk="1" hangingPunct="1"/>
            <a:r>
              <a:rPr lang="ko-KR" altLang="en-US" dirty="0" smtClean="0"/>
              <a:t>은행에서 고객이 들어와서 서비스를 받고 나가는 과정을 시뮬레이션</a:t>
            </a:r>
          </a:p>
          <a:p>
            <a:pPr lvl="1" eaLnBrk="1" hangingPunct="1"/>
            <a:r>
              <a:rPr lang="ko-KR" altLang="en-US" dirty="0" smtClean="0"/>
              <a:t>고객들이 기다리는 </a:t>
            </a:r>
            <a:r>
              <a:rPr lang="ko-KR" altLang="en-US" dirty="0" err="1" smtClean="0"/>
              <a:t>평균시간을</a:t>
            </a:r>
            <a:r>
              <a:rPr lang="ko-KR" altLang="en-US" dirty="0" smtClean="0"/>
              <a:t> 계산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398" y="3654025"/>
            <a:ext cx="4839900" cy="29173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큐의 응용</a:t>
            </a:r>
            <a:r>
              <a:rPr lang="en-US" altLang="ko-KR" smtClean="0"/>
              <a:t>: </a:t>
            </a:r>
            <a:r>
              <a:rPr lang="ko-KR" altLang="en-US" smtClean="0"/>
              <a:t>시물레이션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648" y="1600200"/>
            <a:ext cx="8459852" cy="4495800"/>
          </a:xfrm>
        </p:spPr>
        <p:txBody>
          <a:bodyPr>
            <a:noAutofit/>
          </a:bodyPr>
          <a:lstStyle/>
          <a:p>
            <a:pPr eaLnBrk="1" hangingPunct="1"/>
            <a:r>
              <a:rPr lang="ko-KR" altLang="en-US" dirty="0" smtClean="0"/>
              <a:t>시뮬레이션은 하나의 반복 </a:t>
            </a:r>
            <a:r>
              <a:rPr lang="ko-KR" altLang="en-US" dirty="0" smtClean="0"/>
              <a:t>루프</a:t>
            </a:r>
            <a:endParaRPr lang="ko-KR" altLang="en-US" dirty="0" smtClean="0"/>
          </a:p>
          <a:p>
            <a:pPr lvl="1"/>
            <a:r>
              <a:rPr lang="ko-KR" altLang="en-US" dirty="0" err="1" smtClean="0"/>
              <a:t>현재시각을</a:t>
            </a:r>
            <a:r>
              <a:rPr lang="ko-KR" altLang="en-US" dirty="0" smtClean="0"/>
              <a:t> 나타내는 </a:t>
            </a:r>
            <a:r>
              <a:rPr lang="en-US" altLang="ko-KR" dirty="0" smtClean="0"/>
              <a:t>clock</a:t>
            </a:r>
            <a:r>
              <a:rPr lang="ko-KR" altLang="en-US" dirty="0" smtClean="0"/>
              <a:t>이라는 변수를 하나 </a:t>
            </a:r>
            <a:r>
              <a:rPr lang="ko-KR" altLang="en-US" dirty="0" smtClean="0"/>
              <a:t>증가 </a:t>
            </a:r>
            <a:r>
              <a:rPr lang="en-US" altLang="ko-KR" dirty="0" smtClean="0"/>
              <a:t>(0~59)</a:t>
            </a:r>
          </a:p>
          <a:p>
            <a:pPr lvl="1"/>
            <a:r>
              <a:rPr lang="en-US" altLang="ko-KR" dirty="0" smtClean="0"/>
              <a:t>[0, 10] </a:t>
            </a:r>
            <a:r>
              <a:rPr lang="ko-KR" altLang="en-US" dirty="0" smtClean="0"/>
              <a:t>사이의 </a:t>
            </a:r>
            <a:r>
              <a:rPr lang="ko-KR" altLang="en-US" dirty="0" err="1" smtClean="0"/>
              <a:t>난수를</a:t>
            </a:r>
            <a:r>
              <a:rPr lang="ko-KR" altLang="en-US" dirty="0" smtClean="0"/>
              <a:t> 생성하여 </a:t>
            </a:r>
            <a:r>
              <a:rPr lang="en-US" altLang="ko-KR" dirty="0" smtClean="0"/>
              <a:t>3</a:t>
            </a:r>
            <a:r>
              <a:rPr lang="ko-KR" altLang="en-US" dirty="0" smtClean="0"/>
              <a:t>보다 작으면 새로운 고객이 들어왔다고 판단하고 고객 구조체에 아이디</a:t>
            </a:r>
            <a:r>
              <a:rPr lang="en-US" altLang="ko-KR" dirty="0" smtClean="0"/>
              <a:t>, </a:t>
            </a:r>
            <a:r>
              <a:rPr lang="ko-KR" altLang="en-US" dirty="0" smtClean="0"/>
              <a:t>도착시간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서비스 시간 복사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구조체를 </a:t>
            </a:r>
            <a:r>
              <a:rPr lang="en-US" altLang="ko-KR" dirty="0" smtClean="0"/>
              <a:t>enqueuer()</a:t>
            </a:r>
            <a:r>
              <a:rPr lang="ko-KR" altLang="en-US" dirty="0" smtClean="0"/>
              <a:t>에 호출해서 큐에 추가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/>
            <a:r>
              <a:rPr lang="en-US" altLang="ko-KR" dirty="0" err="1" smtClean="0"/>
              <a:t>service_time</a:t>
            </a:r>
            <a:r>
              <a:rPr lang="ko-KR" altLang="en-US" dirty="0" smtClean="0"/>
              <a:t>에 현재 처리 중인 고객의 서비스 시간 저장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err="1" smtClean="0"/>
              <a:t>s</a:t>
            </a:r>
            <a:r>
              <a:rPr lang="en-US" altLang="ko-KR" dirty="0" err="1" smtClean="0"/>
              <a:t>ervice_time</a:t>
            </a:r>
            <a:r>
              <a:rPr lang="en-US" altLang="ko-KR" dirty="0" smtClean="0"/>
              <a:t> </a:t>
            </a:r>
            <a:r>
              <a:rPr lang="ko-KR" altLang="en-US" dirty="0" smtClean="0"/>
              <a:t>변수가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이 아니면 어떤 고객이 지금 서비스를 받고 있는 중임을 의미</a:t>
            </a:r>
            <a:r>
              <a:rPr lang="en-US" altLang="ko-KR" dirty="0" smtClean="0"/>
              <a:t>, 0</a:t>
            </a:r>
            <a:r>
              <a:rPr lang="ko-KR" altLang="en-US" dirty="0" smtClean="0"/>
              <a:t>이면 서비스 받는 고객이 없으므로 큐에서 고객 구조체를 하나 꺼내어 서비스 시작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/>
              <a:t>60</a:t>
            </a:r>
            <a:r>
              <a:rPr lang="ko-KR" altLang="en-US" dirty="0" smtClean="0"/>
              <a:t>분이 지나면 고객들이 기다린 시간을 전부 화면에 출력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smtClean="0"/>
              <a:t>  프로그램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656565" y="760413"/>
            <a:ext cx="7740650" cy="6512552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# include &lt;</a:t>
            </a:r>
            <a:r>
              <a:rPr lang="en-US" altLang="ko-KR" sz="1400" dirty="0" err="1">
                <a:latin typeface="Trebuchet MS" panose="020B0603020202020204" pitchFamily="34" charset="0"/>
              </a:rPr>
              <a:t>stdio.h</a:t>
            </a:r>
            <a:r>
              <a:rPr lang="en-US" altLang="ko-KR" sz="1400" dirty="0">
                <a:latin typeface="Trebuchet MS" panose="020B0603020202020204" pitchFamily="34" charset="0"/>
              </a:rPr>
              <a:t>&gt;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# include &lt;</a:t>
            </a:r>
            <a:r>
              <a:rPr lang="en-US" altLang="ko-KR" sz="1400" dirty="0" err="1">
                <a:latin typeface="Trebuchet MS" panose="020B0603020202020204" pitchFamily="34" charset="0"/>
              </a:rPr>
              <a:t>stdlib.h</a:t>
            </a:r>
            <a:r>
              <a:rPr lang="en-US" altLang="ko-KR" sz="1400" dirty="0">
                <a:latin typeface="Trebuchet MS" panose="020B0603020202020204" pitchFamily="34" charset="0"/>
              </a:rPr>
              <a:t>&gt;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smtClean="0">
                <a:latin typeface="Trebuchet MS" panose="020B0603020202020204" pitchFamily="34" charset="0"/>
              </a:rPr>
              <a:t>#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smtClean="0">
                <a:latin typeface="Trebuchet MS" panose="020B0603020202020204" pitchFamily="34" charset="0"/>
              </a:rPr>
              <a:t>include &lt;</a:t>
            </a:r>
            <a:r>
              <a:rPr lang="en-US" altLang="ko-KR" sz="1400" dirty="0" err="1" smtClean="0">
                <a:latin typeface="Trebuchet MS" panose="020B0603020202020204" pitchFamily="34" charset="0"/>
              </a:rPr>
              <a:t>time.h</a:t>
            </a:r>
            <a:r>
              <a:rPr lang="en-US" altLang="ko-KR" sz="1400" dirty="0" smtClean="0">
                <a:latin typeface="Trebuchet MS" panose="020B0603020202020204" pitchFamily="34" charset="0"/>
              </a:rPr>
              <a:t>&gt;</a:t>
            </a: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</a:t>
            </a:r>
            <a:r>
              <a:rPr lang="ko-KR" altLang="en-US" sz="1400" dirty="0">
                <a:latin typeface="Trebuchet MS" panose="020B0603020202020204" pitchFamily="34" charset="0"/>
              </a:rPr>
              <a:t>프로그램 </a:t>
            </a:r>
            <a:r>
              <a:rPr lang="en-US" altLang="ko-KR" sz="1400" dirty="0">
                <a:latin typeface="Trebuchet MS" panose="020B0603020202020204" pitchFamily="34" charset="0"/>
              </a:rPr>
              <a:t>5.2</a:t>
            </a:r>
            <a:r>
              <a:rPr lang="ko-KR" altLang="en-US" sz="1400" dirty="0">
                <a:latin typeface="Trebuchet MS" panose="020B0603020202020204" pitchFamily="34" charset="0"/>
              </a:rPr>
              <a:t>에서 다음과 같은 부분을 복사한다</a:t>
            </a:r>
            <a:r>
              <a:rPr lang="en-US" altLang="ko-KR" sz="1400" dirty="0">
                <a:latin typeface="Trebuchet MS" panose="020B0603020202020204" pitchFamily="34" charset="0"/>
              </a:rPr>
              <a:t>. 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================ </a:t>
            </a:r>
            <a:r>
              <a:rPr lang="ko-KR" altLang="en-US" sz="1400" dirty="0" err="1">
                <a:latin typeface="Trebuchet MS" panose="020B0603020202020204" pitchFamily="34" charset="0"/>
              </a:rPr>
              <a:t>원형큐</a:t>
            </a:r>
            <a:r>
              <a:rPr lang="ko-KR" altLang="en-US" sz="1400" dirty="0">
                <a:latin typeface="Trebuchet MS" panose="020B0603020202020204" pitchFamily="34" charset="0"/>
              </a:rPr>
              <a:t> 코드 시작 </a:t>
            </a:r>
            <a:r>
              <a:rPr lang="en-US" altLang="ko-KR" sz="1400" dirty="0">
                <a:latin typeface="Trebuchet MS" panose="020B0603020202020204" pitchFamily="34" charset="0"/>
              </a:rPr>
              <a:t>=================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>
                <a:latin typeface="Trebuchet MS" panose="020B0603020202020204" pitchFamily="34" charset="0"/>
              </a:rPr>
              <a:t>typedef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struct</a:t>
            </a:r>
            <a:r>
              <a:rPr lang="en-US" altLang="ko-KR" sz="1400" dirty="0">
                <a:latin typeface="Trebuchet MS" panose="020B0603020202020204" pitchFamily="34" charset="0"/>
              </a:rPr>
              <a:t> { // </a:t>
            </a:r>
            <a:r>
              <a:rPr lang="ko-KR" altLang="en-US" sz="1400" dirty="0">
                <a:latin typeface="Trebuchet MS" panose="020B0603020202020204" pitchFamily="34" charset="0"/>
              </a:rPr>
              <a:t>요소 타입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ko-KR" altLang="en-US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id;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arrival_time</a:t>
            </a:r>
            <a:r>
              <a:rPr lang="en-US" altLang="ko-KR" sz="1400" dirty="0">
                <a:latin typeface="Trebuchet MS" panose="020B0603020202020204" pitchFamily="34" charset="0"/>
              </a:rPr>
              <a:t>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service_time</a:t>
            </a:r>
            <a:r>
              <a:rPr lang="en-US" altLang="ko-KR" sz="1400" dirty="0">
                <a:latin typeface="Trebuchet MS" panose="020B0603020202020204" pitchFamily="34" charset="0"/>
              </a:rPr>
              <a:t>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 </a:t>
            </a:r>
            <a:r>
              <a:rPr lang="en-US" altLang="ko-KR" sz="1400" dirty="0" smtClean="0">
                <a:latin typeface="Trebuchet MS" panose="020B0603020202020204" pitchFamily="34" charset="0"/>
              </a:rPr>
              <a:t>Customer;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 smtClean="0">
                <a:latin typeface="Trebuchet MS" panose="020B0603020202020204" pitchFamily="34" charset="0"/>
              </a:rPr>
              <a:t>typedef</a:t>
            </a:r>
            <a:r>
              <a:rPr lang="en-US" altLang="ko-KR" sz="1400" dirty="0" smtClean="0">
                <a:latin typeface="Trebuchet MS" panose="020B0603020202020204" pitchFamily="34" charset="0"/>
              </a:rPr>
              <a:t> Customer element;</a:t>
            </a: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...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// ================ </a:t>
            </a:r>
            <a:r>
              <a:rPr lang="ko-KR" altLang="en-US" sz="1400" dirty="0" err="1">
                <a:latin typeface="Trebuchet MS" panose="020B0603020202020204" pitchFamily="34" charset="0"/>
              </a:rPr>
              <a:t>원형큐</a:t>
            </a:r>
            <a:r>
              <a:rPr lang="ko-KR" altLang="en-US" sz="1400" dirty="0">
                <a:latin typeface="Trebuchet MS" panose="020B0603020202020204" pitchFamily="34" charset="0"/>
              </a:rPr>
              <a:t> 코드 종료 </a:t>
            </a:r>
            <a:r>
              <a:rPr lang="en-US" altLang="ko-KR" sz="1400" dirty="0">
                <a:latin typeface="Trebuchet MS" panose="020B0603020202020204" pitchFamily="34" charset="0"/>
              </a:rPr>
              <a:t>=================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endParaRPr lang="en-US" altLang="ko-KR" sz="1400" dirty="0">
              <a:latin typeface="Trebuchet MS" panose="020B0603020202020204" pitchFamily="34" charset="0"/>
            </a:endParaRP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main(void) 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minutes = 60;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total_wait</a:t>
            </a:r>
            <a:r>
              <a:rPr lang="en-US" altLang="ko-KR" sz="1400" dirty="0">
                <a:latin typeface="Trebuchet MS" panose="020B0603020202020204" pitchFamily="34" charset="0"/>
              </a:rPr>
              <a:t> = 0;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total_customers</a:t>
            </a:r>
            <a:r>
              <a:rPr lang="en-US" altLang="ko-KR" sz="1400" dirty="0">
                <a:latin typeface="Trebuchet MS" panose="020B0603020202020204" pitchFamily="34" charset="0"/>
              </a:rPr>
              <a:t> = 0;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service_time</a:t>
            </a:r>
            <a:r>
              <a:rPr lang="en-US" altLang="ko-KR" sz="1400" dirty="0">
                <a:latin typeface="Trebuchet MS" panose="020B0603020202020204" pitchFamily="34" charset="0"/>
              </a:rPr>
              <a:t> = 0;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</a:t>
            </a:r>
            <a:r>
              <a:rPr lang="en-US" altLang="ko-KR" sz="1400" dirty="0" err="1">
                <a:latin typeface="Trebuchet MS" panose="020B0603020202020204" pitchFamily="34" charset="0"/>
              </a:rPr>
              <a:t>service_customer</a:t>
            </a:r>
            <a:r>
              <a:rPr lang="en-US" altLang="ko-KR" sz="1400" dirty="0">
                <a:latin typeface="Trebuchet MS" panose="020B0603020202020204" pitchFamily="34" charset="0"/>
              </a:rPr>
              <a:t>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QueueType</a:t>
            </a:r>
            <a:r>
              <a:rPr lang="en-US" altLang="ko-KR" sz="1400" dirty="0">
                <a:latin typeface="Trebuchet MS" panose="020B0603020202020204" pitchFamily="34" charset="0"/>
              </a:rPr>
              <a:t> queue;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init_queue</a:t>
            </a:r>
            <a:r>
              <a:rPr lang="en-US" altLang="ko-KR" sz="1400" dirty="0">
                <a:latin typeface="Trebuchet MS" panose="020B0603020202020204" pitchFamily="34" charset="0"/>
              </a:rPr>
              <a:t>(&amp;queue);</a:t>
            </a:r>
          </a:p>
        </p:txBody>
      </p:sp>
    </p:spTree>
    <p:extLst>
      <p:ext uri="{BB962C8B-B14F-4D97-AF65-F5344CB8AC3E}">
        <p14:creationId xmlns:p14="http://schemas.microsoft.com/office/powerpoint/2010/main" val="642383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smtClean="0"/>
              <a:t>  프로그램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701570" y="1673805"/>
            <a:ext cx="7740650" cy="3582519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srand</a:t>
            </a:r>
            <a:r>
              <a:rPr lang="en-US" altLang="ko-KR" sz="1400" dirty="0">
                <a:latin typeface="Trebuchet MS" panose="020B0603020202020204" pitchFamily="34" charset="0"/>
              </a:rPr>
              <a:t>(time(NULL));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for (</a:t>
            </a:r>
            <a:r>
              <a:rPr lang="en-US" altLang="ko-KR" sz="1400" dirty="0" err="1">
                <a:latin typeface="Trebuchet MS" panose="020B0603020202020204" pitchFamily="34" charset="0"/>
              </a:rPr>
              <a:t>int</a:t>
            </a:r>
            <a:r>
              <a:rPr lang="en-US" altLang="ko-KR" sz="1400" dirty="0">
                <a:latin typeface="Trebuchet MS" panose="020B0603020202020204" pitchFamily="34" charset="0"/>
              </a:rPr>
              <a:t> clock = 0; clock &lt; minutes; clock++) 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</a:t>
            </a:r>
            <a:r>
              <a:rPr lang="ko-KR" altLang="en-US" sz="1400" dirty="0" err="1">
                <a:latin typeface="Trebuchet MS" panose="020B0603020202020204" pitchFamily="34" charset="0"/>
              </a:rPr>
              <a:t>현재시각</a:t>
            </a:r>
            <a:r>
              <a:rPr lang="en-US" altLang="ko-KR" sz="1400" dirty="0">
                <a:latin typeface="Trebuchet MS" panose="020B0603020202020204" pitchFamily="34" charset="0"/>
              </a:rPr>
              <a:t>=%d\n", clock);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if ((rand()%10) &lt; 3) 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element customer;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customer.id = </a:t>
            </a:r>
            <a:r>
              <a:rPr lang="en-US" altLang="ko-KR" sz="1400" dirty="0" err="1">
                <a:latin typeface="Trebuchet MS" panose="020B0603020202020204" pitchFamily="34" charset="0"/>
              </a:rPr>
              <a:t>total_customers</a:t>
            </a:r>
            <a:r>
              <a:rPr lang="en-US" altLang="ko-KR" sz="1400" dirty="0">
                <a:latin typeface="Trebuchet MS" panose="020B0603020202020204" pitchFamily="34" charset="0"/>
              </a:rPr>
              <a:t>++;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</a:t>
            </a:r>
            <a:r>
              <a:rPr lang="en-US" altLang="ko-KR" sz="1400" dirty="0" err="1">
                <a:latin typeface="Trebuchet MS" panose="020B0603020202020204" pitchFamily="34" charset="0"/>
              </a:rPr>
              <a:t>customer.arrival_time</a:t>
            </a:r>
            <a:r>
              <a:rPr lang="en-US" altLang="ko-KR" sz="1400" dirty="0">
                <a:latin typeface="Trebuchet MS" panose="020B0603020202020204" pitchFamily="34" charset="0"/>
              </a:rPr>
              <a:t> = clock;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</a:t>
            </a:r>
            <a:r>
              <a:rPr lang="en-US" altLang="ko-KR" sz="1400" dirty="0" err="1">
                <a:latin typeface="Trebuchet MS" panose="020B0603020202020204" pitchFamily="34" charset="0"/>
              </a:rPr>
              <a:t>customer.service_time</a:t>
            </a:r>
            <a:r>
              <a:rPr lang="en-US" altLang="ko-KR" sz="1400" dirty="0">
                <a:latin typeface="Trebuchet MS" panose="020B0603020202020204" pitchFamily="34" charset="0"/>
              </a:rPr>
              <a:t> = rand() % 3+1;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</a:t>
            </a:r>
            <a:r>
              <a:rPr lang="en-US" altLang="ko-KR" sz="1400" dirty="0" err="1">
                <a:latin typeface="Trebuchet MS" panose="020B0603020202020204" pitchFamily="34" charset="0"/>
              </a:rPr>
              <a:t>enqueue</a:t>
            </a:r>
            <a:r>
              <a:rPr lang="en-US" altLang="ko-KR" sz="1400" dirty="0">
                <a:latin typeface="Trebuchet MS" panose="020B0603020202020204" pitchFamily="34" charset="0"/>
              </a:rPr>
              <a:t>(&amp;queue, customer);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</a:t>
            </a:r>
            <a:r>
              <a:rPr lang="ko-KR" altLang="en-US" sz="1400" dirty="0">
                <a:latin typeface="Trebuchet MS" panose="020B0603020202020204" pitchFamily="34" charset="0"/>
              </a:rPr>
              <a:t>고객 </a:t>
            </a:r>
            <a:r>
              <a:rPr lang="en-US" altLang="ko-KR" sz="1400" dirty="0">
                <a:latin typeface="Trebuchet MS" panose="020B0603020202020204" pitchFamily="34" charset="0"/>
              </a:rPr>
              <a:t>%d</a:t>
            </a:r>
            <a:r>
              <a:rPr lang="ko-KR" altLang="en-US" sz="1400" dirty="0">
                <a:latin typeface="Trebuchet MS" panose="020B0603020202020204" pitchFamily="34" charset="0"/>
              </a:rPr>
              <a:t>이 </a:t>
            </a:r>
            <a:r>
              <a:rPr lang="en-US" altLang="ko-KR" sz="1400" dirty="0">
                <a:latin typeface="Trebuchet MS" panose="020B0603020202020204" pitchFamily="34" charset="0"/>
              </a:rPr>
              <a:t>%d</a:t>
            </a:r>
            <a:r>
              <a:rPr lang="ko-KR" altLang="en-US" sz="1400" dirty="0">
                <a:latin typeface="Trebuchet MS" panose="020B0603020202020204" pitchFamily="34" charset="0"/>
              </a:rPr>
              <a:t>분에 들어옵니다</a:t>
            </a:r>
            <a:r>
              <a:rPr lang="en-US" altLang="ko-KR" sz="1400" dirty="0">
                <a:latin typeface="Trebuchet MS" panose="020B0603020202020204" pitchFamily="34" charset="0"/>
              </a:rPr>
              <a:t>. </a:t>
            </a:r>
            <a:r>
              <a:rPr lang="ko-KR" altLang="en-US" sz="1400" dirty="0">
                <a:latin typeface="Trebuchet MS" panose="020B0603020202020204" pitchFamily="34" charset="0"/>
              </a:rPr>
              <a:t>업무처리시간</a:t>
            </a:r>
            <a:r>
              <a:rPr lang="en-US" altLang="ko-KR" sz="1400" dirty="0">
                <a:latin typeface="Trebuchet MS" panose="020B0603020202020204" pitchFamily="34" charset="0"/>
              </a:rPr>
              <a:t>= %d</a:t>
            </a:r>
            <a:r>
              <a:rPr lang="ko-KR" altLang="en-US" sz="1400" dirty="0">
                <a:latin typeface="Trebuchet MS" panose="020B0603020202020204" pitchFamily="34" charset="0"/>
              </a:rPr>
              <a:t>분</a:t>
            </a:r>
            <a:r>
              <a:rPr lang="en-US" altLang="ko-KR" sz="1400" dirty="0">
                <a:latin typeface="Trebuchet MS" panose="020B0603020202020204" pitchFamily="34" charset="0"/>
              </a:rPr>
              <a:t>\n", 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	customer.id, </a:t>
            </a:r>
            <a:r>
              <a:rPr lang="en-US" altLang="ko-KR" sz="1400" dirty="0" err="1">
                <a:latin typeface="Trebuchet MS" panose="020B0603020202020204" pitchFamily="34" charset="0"/>
              </a:rPr>
              <a:t>customer.arrival_time</a:t>
            </a:r>
            <a:r>
              <a:rPr lang="en-US" altLang="ko-KR" sz="1400" dirty="0">
                <a:latin typeface="Trebuchet MS" panose="020B0603020202020204" pitchFamily="34" charset="0"/>
              </a:rPr>
              <a:t>, </a:t>
            </a:r>
            <a:r>
              <a:rPr lang="en-US" altLang="ko-KR" sz="1400" dirty="0" err="1">
                <a:latin typeface="Trebuchet MS" panose="020B0603020202020204" pitchFamily="34" charset="0"/>
              </a:rPr>
              <a:t>customer.service_time</a:t>
            </a:r>
            <a:r>
              <a:rPr lang="en-US" altLang="ko-KR" sz="1400" dirty="0">
                <a:latin typeface="Trebuchet MS" panose="020B0603020202020204" pitchFamily="34" charset="0"/>
              </a:rPr>
              <a:t>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319870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3484563" cy="1143000"/>
          </a:xfrm>
        </p:spPr>
        <p:txBody>
          <a:bodyPr/>
          <a:lstStyle/>
          <a:p>
            <a:pPr eaLnBrk="1" hangingPunct="1"/>
            <a:r>
              <a:rPr lang="ko-KR" altLang="en-US" dirty="0" smtClean="0"/>
              <a:t>  프로그램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746575" y="953725"/>
            <a:ext cx="7740650" cy="5133713"/>
          </a:xfrm>
          <a:prstGeom prst="rect">
            <a:avLst/>
          </a:prstGeom>
          <a:solidFill>
            <a:srgbClr val="FFFF99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if (</a:t>
            </a:r>
            <a:r>
              <a:rPr lang="en-US" altLang="ko-KR" sz="1400" dirty="0" err="1">
                <a:latin typeface="Trebuchet MS" panose="020B0603020202020204" pitchFamily="34" charset="0"/>
              </a:rPr>
              <a:t>service_time</a:t>
            </a:r>
            <a:r>
              <a:rPr lang="en-US" altLang="ko-KR" sz="1400" dirty="0">
                <a:latin typeface="Trebuchet MS" panose="020B0603020202020204" pitchFamily="34" charset="0"/>
              </a:rPr>
              <a:t> &gt; 0) 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</a:t>
            </a:r>
            <a:r>
              <a:rPr lang="ko-KR" altLang="en-US" sz="1400" dirty="0">
                <a:latin typeface="Trebuchet MS" panose="020B0603020202020204" pitchFamily="34" charset="0"/>
              </a:rPr>
              <a:t>고객 </a:t>
            </a:r>
            <a:r>
              <a:rPr lang="en-US" altLang="ko-KR" sz="1400" dirty="0">
                <a:latin typeface="Trebuchet MS" panose="020B0603020202020204" pitchFamily="34" charset="0"/>
              </a:rPr>
              <a:t>%d </a:t>
            </a:r>
            <a:r>
              <a:rPr lang="ko-KR" altLang="en-US" sz="1400" dirty="0" err="1">
                <a:latin typeface="Trebuchet MS" panose="020B0603020202020204" pitchFamily="34" charset="0"/>
              </a:rPr>
              <a:t>업무처리중입니다</a:t>
            </a:r>
            <a:r>
              <a:rPr lang="en-US" altLang="ko-KR" sz="1400" dirty="0">
                <a:latin typeface="Trebuchet MS" panose="020B0603020202020204" pitchFamily="34" charset="0"/>
              </a:rPr>
              <a:t>. \n", </a:t>
            </a:r>
            <a:r>
              <a:rPr lang="en-US" altLang="ko-KR" sz="1400" dirty="0" err="1">
                <a:latin typeface="Trebuchet MS" panose="020B0603020202020204" pitchFamily="34" charset="0"/>
              </a:rPr>
              <a:t>service_customer</a:t>
            </a:r>
            <a:r>
              <a:rPr lang="en-US" altLang="ko-KR" sz="1400" dirty="0">
                <a:latin typeface="Trebuchet MS" panose="020B0603020202020204" pitchFamily="34" charset="0"/>
              </a:rPr>
              <a:t>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</a:t>
            </a:r>
            <a:r>
              <a:rPr lang="en-US" altLang="ko-KR" sz="1400" dirty="0" err="1">
                <a:latin typeface="Trebuchet MS" panose="020B0603020202020204" pitchFamily="34" charset="0"/>
              </a:rPr>
              <a:t>service_time</a:t>
            </a:r>
            <a:r>
              <a:rPr lang="en-US" altLang="ko-KR" sz="1400" dirty="0">
                <a:latin typeface="Trebuchet MS" panose="020B0603020202020204" pitchFamily="34" charset="0"/>
              </a:rPr>
              <a:t>--;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else 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if (!</a:t>
            </a:r>
            <a:r>
              <a:rPr lang="en-US" altLang="ko-KR" sz="1400" dirty="0" err="1">
                <a:latin typeface="Trebuchet MS" panose="020B0603020202020204" pitchFamily="34" charset="0"/>
              </a:rPr>
              <a:t>is_empty</a:t>
            </a:r>
            <a:r>
              <a:rPr lang="en-US" altLang="ko-KR" sz="1400" dirty="0">
                <a:latin typeface="Trebuchet MS" panose="020B0603020202020204" pitchFamily="34" charset="0"/>
              </a:rPr>
              <a:t>(&amp;queue)) {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	element customer = </a:t>
            </a:r>
            <a:r>
              <a:rPr lang="en-US" altLang="ko-KR" sz="1400" dirty="0" err="1">
                <a:latin typeface="Trebuchet MS" panose="020B0603020202020204" pitchFamily="34" charset="0"/>
              </a:rPr>
              <a:t>dequeue</a:t>
            </a:r>
            <a:r>
              <a:rPr lang="en-US" altLang="ko-KR" sz="1400" dirty="0">
                <a:latin typeface="Trebuchet MS" panose="020B0603020202020204" pitchFamily="34" charset="0"/>
              </a:rPr>
              <a:t>(&amp;queue);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	</a:t>
            </a:r>
            <a:r>
              <a:rPr lang="en-US" altLang="ko-KR" sz="1400" dirty="0" err="1">
                <a:latin typeface="Trebuchet MS" panose="020B0603020202020204" pitchFamily="34" charset="0"/>
              </a:rPr>
              <a:t>service_customer</a:t>
            </a:r>
            <a:r>
              <a:rPr lang="en-US" altLang="ko-KR" sz="1400" dirty="0">
                <a:latin typeface="Trebuchet MS" panose="020B0603020202020204" pitchFamily="34" charset="0"/>
              </a:rPr>
              <a:t> = customer.id;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	</a:t>
            </a:r>
            <a:r>
              <a:rPr lang="en-US" altLang="ko-KR" sz="1400" dirty="0" err="1">
                <a:latin typeface="Trebuchet MS" panose="020B0603020202020204" pitchFamily="34" charset="0"/>
              </a:rPr>
              <a:t>service_time</a:t>
            </a:r>
            <a:r>
              <a:rPr lang="en-US" altLang="ko-KR" sz="1400" dirty="0">
                <a:latin typeface="Trebuchet MS" panose="020B0603020202020204" pitchFamily="34" charset="0"/>
              </a:rPr>
              <a:t> = </a:t>
            </a:r>
            <a:r>
              <a:rPr lang="en-US" altLang="ko-KR" sz="1400" dirty="0" err="1">
                <a:latin typeface="Trebuchet MS" panose="020B0603020202020204" pitchFamily="34" charset="0"/>
              </a:rPr>
              <a:t>customer.service_time</a:t>
            </a:r>
            <a:r>
              <a:rPr lang="en-US" altLang="ko-KR" sz="1400" dirty="0">
                <a:latin typeface="Trebuchet MS" panose="020B0603020202020204" pitchFamily="34" charset="0"/>
              </a:rPr>
              <a:t>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</a:t>
            </a:r>
            <a:r>
              <a:rPr lang="ko-KR" altLang="en-US" sz="1400" dirty="0">
                <a:latin typeface="Trebuchet MS" panose="020B0603020202020204" pitchFamily="34" charset="0"/>
              </a:rPr>
              <a:t>고객 </a:t>
            </a:r>
            <a:r>
              <a:rPr lang="en-US" altLang="ko-KR" sz="1400" dirty="0">
                <a:latin typeface="Trebuchet MS" panose="020B0603020202020204" pitchFamily="34" charset="0"/>
              </a:rPr>
              <a:t>%d</a:t>
            </a:r>
            <a:r>
              <a:rPr lang="ko-KR" altLang="en-US" sz="1400" dirty="0">
                <a:latin typeface="Trebuchet MS" panose="020B0603020202020204" pitchFamily="34" charset="0"/>
              </a:rPr>
              <a:t>이 </a:t>
            </a:r>
            <a:r>
              <a:rPr lang="en-US" altLang="ko-KR" sz="1400" dirty="0">
                <a:latin typeface="Trebuchet MS" panose="020B0603020202020204" pitchFamily="34" charset="0"/>
              </a:rPr>
              <a:t>%d</a:t>
            </a:r>
            <a:r>
              <a:rPr lang="ko-KR" altLang="en-US" sz="1400" dirty="0">
                <a:latin typeface="Trebuchet MS" panose="020B0603020202020204" pitchFamily="34" charset="0"/>
              </a:rPr>
              <a:t>분에 업무를 시작합니다</a:t>
            </a:r>
            <a:r>
              <a:rPr lang="en-US" altLang="ko-KR" sz="1400" dirty="0">
                <a:latin typeface="Trebuchet MS" panose="020B0603020202020204" pitchFamily="34" charset="0"/>
              </a:rPr>
              <a:t>. </a:t>
            </a:r>
            <a:r>
              <a:rPr lang="ko-KR" altLang="en-US" sz="1400" dirty="0">
                <a:latin typeface="Trebuchet MS" panose="020B0603020202020204" pitchFamily="34" charset="0"/>
              </a:rPr>
              <a:t>대기시간은 </a:t>
            </a:r>
            <a:r>
              <a:rPr lang="en-US" altLang="ko-KR" sz="1400" dirty="0">
                <a:latin typeface="Trebuchet MS" panose="020B0603020202020204" pitchFamily="34" charset="0"/>
              </a:rPr>
              <a:t>%d</a:t>
            </a:r>
            <a:r>
              <a:rPr lang="ko-KR" altLang="en-US" sz="1400" dirty="0">
                <a:latin typeface="Trebuchet MS" panose="020B0603020202020204" pitchFamily="34" charset="0"/>
              </a:rPr>
              <a:t>분이었습니다</a:t>
            </a:r>
            <a:r>
              <a:rPr lang="en-US" altLang="ko-KR" sz="1400" dirty="0">
                <a:latin typeface="Trebuchet MS" panose="020B0603020202020204" pitchFamily="34" charset="0"/>
              </a:rPr>
              <a:t>.\n",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		customer.id, clock, clock - </a:t>
            </a:r>
            <a:r>
              <a:rPr lang="en-US" altLang="ko-KR" sz="1400" dirty="0" err="1">
                <a:latin typeface="Trebuchet MS" panose="020B0603020202020204" pitchFamily="34" charset="0"/>
              </a:rPr>
              <a:t>customer.arrival_time</a:t>
            </a:r>
            <a:r>
              <a:rPr lang="en-US" altLang="ko-KR" sz="1400" dirty="0">
                <a:latin typeface="Trebuchet MS" panose="020B0603020202020204" pitchFamily="34" charset="0"/>
              </a:rPr>
              <a:t>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	</a:t>
            </a:r>
            <a:r>
              <a:rPr lang="en-US" altLang="ko-KR" sz="1400" dirty="0" err="1">
                <a:latin typeface="Trebuchet MS" panose="020B0603020202020204" pitchFamily="34" charset="0"/>
              </a:rPr>
              <a:t>total_wait</a:t>
            </a:r>
            <a:r>
              <a:rPr lang="en-US" altLang="ko-KR" sz="1400" dirty="0">
                <a:latin typeface="Trebuchet MS" panose="020B0603020202020204" pitchFamily="34" charset="0"/>
              </a:rPr>
              <a:t> += clock - </a:t>
            </a:r>
            <a:r>
              <a:rPr lang="en-US" altLang="ko-KR" sz="1400" dirty="0" err="1">
                <a:latin typeface="Trebuchet MS" panose="020B0603020202020204" pitchFamily="34" charset="0"/>
              </a:rPr>
              <a:t>customer.arrival_time</a:t>
            </a:r>
            <a:r>
              <a:rPr lang="en-US" altLang="ko-KR" sz="1400" dirty="0">
                <a:latin typeface="Trebuchet MS" panose="020B0603020202020204" pitchFamily="34" charset="0"/>
              </a:rPr>
              <a:t>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	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	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}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</a:t>
            </a:r>
            <a:r>
              <a:rPr lang="en-US" altLang="ko-KR" sz="1400" dirty="0" err="1">
                <a:latin typeface="Trebuchet MS" panose="020B0603020202020204" pitchFamily="34" charset="0"/>
              </a:rPr>
              <a:t>printf</a:t>
            </a:r>
            <a:r>
              <a:rPr lang="en-US" altLang="ko-KR" sz="1400" dirty="0">
                <a:latin typeface="Trebuchet MS" panose="020B0603020202020204" pitchFamily="34" charset="0"/>
              </a:rPr>
              <a:t>("</a:t>
            </a:r>
            <a:r>
              <a:rPr lang="ko-KR" altLang="en-US" sz="1400" dirty="0">
                <a:latin typeface="Trebuchet MS" panose="020B0603020202020204" pitchFamily="34" charset="0"/>
              </a:rPr>
              <a:t>전체 대기 시간</a:t>
            </a:r>
            <a:r>
              <a:rPr lang="en-US" altLang="ko-KR" sz="1400" dirty="0">
                <a:latin typeface="Trebuchet MS" panose="020B0603020202020204" pitchFamily="34" charset="0"/>
              </a:rPr>
              <a:t>=%d</a:t>
            </a:r>
            <a:r>
              <a:rPr lang="ko-KR" altLang="en-US" sz="1400" dirty="0">
                <a:latin typeface="Trebuchet MS" panose="020B0603020202020204" pitchFamily="34" charset="0"/>
              </a:rPr>
              <a:t>분 </a:t>
            </a:r>
            <a:r>
              <a:rPr lang="en-US" altLang="ko-KR" sz="1400" dirty="0">
                <a:latin typeface="Trebuchet MS" panose="020B0603020202020204" pitchFamily="34" charset="0"/>
              </a:rPr>
              <a:t>\n", </a:t>
            </a:r>
            <a:r>
              <a:rPr lang="en-US" altLang="ko-KR" sz="1400" dirty="0" err="1">
                <a:latin typeface="Trebuchet MS" panose="020B0603020202020204" pitchFamily="34" charset="0"/>
              </a:rPr>
              <a:t>total_wait</a:t>
            </a:r>
            <a:r>
              <a:rPr lang="en-US" altLang="ko-KR" sz="1400" dirty="0">
                <a:latin typeface="Trebuchet MS" panose="020B0603020202020204" pitchFamily="34" charset="0"/>
              </a:rPr>
              <a:t>);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	return 0;</a:t>
            </a:r>
          </a:p>
          <a:p>
            <a:pPr eaLnBrk="1" fontAlgn="t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</a:pPr>
            <a:r>
              <a:rPr lang="en-US" altLang="ko-KR" sz="1400" dirty="0">
                <a:latin typeface="Trebuchet MS" panose="020B0603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2747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701570" y="1718810"/>
            <a:ext cx="7740650" cy="3323987"/>
          </a:xfrm>
          <a:prstGeom prst="rect">
            <a:avLst/>
          </a:prstGeom>
          <a:solidFill>
            <a:srgbClr val="3366FF"/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1400" dirty="0" err="1">
                <a:solidFill>
                  <a:schemeClr val="bg1"/>
                </a:solidFill>
                <a:latin typeface="Trebuchet MS" panose="020B0603020202020204" pitchFamily="34" charset="0"/>
              </a:rPr>
              <a:t>현재시각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=0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Trebuchet MS" panose="020B0603020202020204" pitchFamily="34" charset="0"/>
              </a:rPr>
              <a:t>현재시각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=1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고객 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0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이 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1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분에 들어옵니다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. 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업무처리시간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= 2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분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고객 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0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이 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1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분에 업무를 시작합니다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. 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대기시간은 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0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분이었습니다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.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Trebuchet MS" panose="020B0603020202020204" pitchFamily="34" charset="0"/>
              </a:rPr>
              <a:t>현재시각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=2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고객 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0 </a:t>
            </a:r>
            <a:r>
              <a:rPr lang="ko-KR" altLang="en-US" sz="1400" dirty="0" err="1">
                <a:solidFill>
                  <a:schemeClr val="bg1"/>
                </a:solidFill>
                <a:latin typeface="Trebuchet MS" panose="020B0603020202020204" pitchFamily="34" charset="0"/>
              </a:rPr>
              <a:t>업무처리중입니다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.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Trebuchet MS" panose="020B0603020202020204" pitchFamily="34" charset="0"/>
              </a:rPr>
              <a:t>현재시각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=3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고객 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1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이 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3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분에 들어옵니다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. 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업무처리시간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= 1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분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고객 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0 </a:t>
            </a:r>
            <a:r>
              <a:rPr lang="ko-KR" altLang="en-US" sz="1400" dirty="0" err="1">
                <a:solidFill>
                  <a:schemeClr val="bg1"/>
                </a:solidFill>
                <a:latin typeface="Trebuchet MS" panose="020B0603020202020204" pitchFamily="34" charset="0"/>
              </a:rPr>
              <a:t>업무처리중입니다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.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Trebuchet MS" panose="020B0603020202020204" pitchFamily="34" charset="0"/>
              </a:rPr>
              <a:t>현재시각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=4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고객 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1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이 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4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분에 업무를 시작합니다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. 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대기시간은 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1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분이었습니다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.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Trebuchet MS" panose="020B0603020202020204" pitchFamily="34" charset="0"/>
              </a:rPr>
              <a:t>현재시각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=5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고객 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1 </a:t>
            </a:r>
            <a:r>
              <a:rPr lang="ko-KR" altLang="en-US" sz="1400" dirty="0" err="1">
                <a:solidFill>
                  <a:schemeClr val="bg1"/>
                </a:solidFill>
                <a:latin typeface="Trebuchet MS" panose="020B0603020202020204" pitchFamily="34" charset="0"/>
              </a:rPr>
              <a:t>업무처리중입니다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.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Trebuchet MS" panose="020B0603020202020204" pitchFamily="34" charset="0"/>
              </a:rPr>
              <a:t>현재시각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=6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고객 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2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이 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6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분에 들어옵니다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. 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업무처리시간</a:t>
            </a:r>
            <a:r>
              <a: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</a:rPr>
              <a:t>= 2</a:t>
            </a:r>
            <a:r>
              <a: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분</a:t>
            </a:r>
            <a:endParaRPr lang="en-US" altLang="ko-KR" sz="14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1615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제03장 선택과반복(강의)</Template>
  <TotalTime>16335</TotalTime>
  <Words>942</Words>
  <Application>Microsoft Office PowerPoint</Application>
  <PresentationFormat>화면 슬라이드 쇼(4:3)</PresentationFormat>
  <Paragraphs>528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51" baseType="lpstr">
      <vt:lpstr>HY얕은샘물M</vt:lpstr>
      <vt:lpstr>HY엽서L</vt:lpstr>
      <vt:lpstr>굴림</vt:lpstr>
      <vt:lpstr>Arial</vt:lpstr>
      <vt:lpstr>Lucida Console</vt:lpstr>
      <vt:lpstr>Trebuchet MS</vt:lpstr>
      <vt:lpstr>Tw Cen MT</vt:lpstr>
      <vt:lpstr>Wingdings</vt:lpstr>
      <vt:lpstr>Wingdings 2</vt:lpstr>
      <vt:lpstr>가을</vt:lpstr>
      <vt:lpstr>6장 큐 </vt:lpstr>
      <vt:lpstr>큐(QUEUE)</vt:lpstr>
      <vt:lpstr>큐 ADT</vt:lpstr>
      <vt:lpstr>큐의 삽입, 삭제 연산</vt:lpstr>
      <vt:lpstr>큐의 응용</vt:lpstr>
      <vt:lpstr>선형큐</vt:lpstr>
      <vt:lpstr>선형큐</vt:lpstr>
      <vt:lpstr>선형큐</vt:lpstr>
      <vt:lpstr>선형큐</vt:lpstr>
      <vt:lpstr>PowerPoint 프레젠테이션</vt:lpstr>
      <vt:lpstr> 선형 큐의 응용: 작업 스케줄링</vt:lpstr>
      <vt:lpstr>원형큐</vt:lpstr>
      <vt:lpstr>원형큐의 구조</vt:lpstr>
      <vt:lpstr>원형큐의 동작</vt:lpstr>
      <vt:lpstr>공백상태, 포화상태</vt:lpstr>
      <vt:lpstr>  프로그램</vt:lpstr>
      <vt:lpstr>  프로그램</vt:lpstr>
      <vt:lpstr>  프로그램</vt:lpstr>
      <vt:lpstr>  프로그램</vt:lpstr>
      <vt:lpstr>  프로그램</vt:lpstr>
      <vt:lpstr>실행결과</vt:lpstr>
      <vt:lpstr>큐의 응용: 버퍼</vt:lpstr>
      <vt:lpstr>  프로그램</vt:lpstr>
      <vt:lpstr>실행결과</vt:lpstr>
      <vt:lpstr>덱(deque)</vt:lpstr>
      <vt:lpstr>덱 ADT </vt:lpstr>
      <vt:lpstr>덱의 연산</vt:lpstr>
      <vt:lpstr>배열을 이용한 덱의 구현</vt:lpstr>
      <vt:lpstr>  프로그램</vt:lpstr>
      <vt:lpstr>  프로그램</vt:lpstr>
      <vt:lpstr>  프로그램</vt:lpstr>
      <vt:lpstr>  프로그램</vt:lpstr>
      <vt:lpstr>  프로그램</vt:lpstr>
      <vt:lpstr>  프로그램</vt:lpstr>
      <vt:lpstr>실행결과</vt:lpstr>
      <vt:lpstr>큐의 응용: 시뮬레이션</vt:lpstr>
      <vt:lpstr>큐의 응용: 시물레이션</vt:lpstr>
      <vt:lpstr>  프로그램</vt:lpstr>
      <vt:lpstr>  프로그램</vt:lpstr>
      <vt:lpstr>  프로그램</vt:lpstr>
      <vt:lpstr>실행결과</vt:lpstr>
    </vt:vector>
  </TitlesOfParts>
  <Company>순천향대학교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천인국</dc:creator>
  <cp:lastModifiedBy>admin</cp:lastModifiedBy>
  <cp:revision>226</cp:revision>
  <dcterms:created xsi:type="dcterms:W3CDTF">2004-02-19T02:52:38Z</dcterms:created>
  <dcterms:modified xsi:type="dcterms:W3CDTF">2026-04-15T05:27:44Z</dcterms:modified>
</cp:coreProperties>
</file>